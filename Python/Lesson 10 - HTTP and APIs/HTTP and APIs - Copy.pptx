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486" r:id="rId3"/>
    <p:sldId id="1289" r:id="rId4"/>
    <p:sldId id="285" r:id="rId5"/>
    <p:sldId id="1270" r:id="rId6"/>
    <p:sldId id="287" r:id="rId7"/>
    <p:sldId id="1271" r:id="rId8"/>
    <p:sldId id="286" r:id="rId9"/>
    <p:sldId id="1272" r:id="rId10"/>
    <p:sldId id="1275" r:id="rId11"/>
    <p:sldId id="1276" r:id="rId12"/>
    <p:sldId id="1278" r:id="rId13"/>
    <p:sldId id="1279" r:id="rId14"/>
    <p:sldId id="1273" r:id="rId15"/>
    <p:sldId id="1287" r:id="rId16"/>
    <p:sldId id="1292" r:id="rId17"/>
    <p:sldId id="1291" r:id="rId18"/>
    <p:sldId id="1288" r:id="rId19"/>
    <p:sldId id="1286" r:id="rId20"/>
    <p:sldId id="1274" r:id="rId21"/>
    <p:sldId id="1280" r:id="rId22"/>
    <p:sldId id="1281" r:id="rId23"/>
    <p:sldId id="1284" r:id="rId24"/>
    <p:sldId id="1282" r:id="rId25"/>
    <p:sldId id="1283" r:id="rId26"/>
    <p:sldId id="1285" r:id="rId27"/>
    <p:sldId id="28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89" autoAdjust="0"/>
  </p:normalViewPr>
  <p:slideViewPr>
    <p:cSldViewPr snapToGrid="0">
      <p:cViewPr varScale="1">
        <p:scale>
          <a:sx n="72" d="100"/>
          <a:sy n="72" d="100"/>
        </p:scale>
        <p:origin x="1075"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8/3/2026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4719-007A-9D20-6D43-3A4FCAADAC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2F23C-3B6C-06AD-FDEF-F55DEF812C1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4E9A6-CB51-3C7D-DF18-0DDEC1AC42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45C7A3-AEE3-A283-A203-B801AB559F92}"/>
              </a:ext>
            </a:extLst>
          </p:cNvPr>
          <p:cNvSpPr>
            <a:spLocks noGrp="1"/>
          </p:cNvSpPr>
          <p:nvPr>
            <p:ph type="sldNum" sz="quarter" idx="5"/>
          </p:nvPr>
        </p:nvSpPr>
        <p:spPr/>
        <p:txBody>
          <a:bodyPr/>
          <a:lstStyle/>
          <a:p>
            <a:fld id="{292570D5-C374-43AE-876B-55C2A221664E}" type="slidenum">
              <a:rPr lang="en-US" smtClean="0"/>
              <a:t>2</a:t>
            </a:fld>
            <a:endParaRPr lang="en-US"/>
          </a:p>
        </p:txBody>
      </p:sp>
    </p:spTree>
    <p:extLst>
      <p:ext uri="{BB962C8B-B14F-4D97-AF65-F5344CB8AC3E}">
        <p14:creationId xmlns:p14="http://schemas.microsoft.com/office/powerpoint/2010/main" val="2731214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77C63-A4C9-7DA1-59CC-332A92710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BDAA95-81CB-FCCD-A0FD-03388B78A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1CBDEE-43BF-4C70-1B4A-1D1DA6E659C4}"/>
              </a:ext>
            </a:extLst>
          </p:cNvPr>
          <p:cNvSpPr>
            <a:spLocks noGrp="1"/>
          </p:cNvSpPr>
          <p:nvPr>
            <p:ph type="body" idx="1"/>
          </p:nvPr>
        </p:nvSpPr>
        <p:spPr/>
        <p:txBody>
          <a:bodyPr/>
          <a:lstStyle/>
          <a:p>
            <a:r>
              <a:rPr lang="en-US" dirty="0"/>
              <a:t>https://www.rfc-editor.org/rfc/rfc1945</a:t>
            </a:r>
          </a:p>
        </p:txBody>
      </p:sp>
      <p:sp>
        <p:nvSpPr>
          <p:cNvPr id="4" name="Slide Number Placeholder 3">
            <a:extLst>
              <a:ext uri="{FF2B5EF4-FFF2-40B4-BE49-F238E27FC236}">
                <a16:creationId xmlns:a16="http://schemas.microsoft.com/office/drawing/2014/main" id="{ACE423FF-7CDA-5E46-7BC5-A77ADACA455B}"/>
              </a:ext>
            </a:extLst>
          </p:cNvPr>
          <p:cNvSpPr>
            <a:spLocks noGrp="1"/>
          </p:cNvSpPr>
          <p:nvPr>
            <p:ph type="sldNum" sz="quarter" idx="5"/>
          </p:nvPr>
        </p:nvSpPr>
        <p:spPr/>
        <p:txBody>
          <a:bodyPr/>
          <a:lstStyle/>
          <a:p>
            <a:fld id="{BE457D5F-ED05-449E-97D0-205DAB987247}" type="slidenum">
              <a:rPr lang="en-US" smtClean="0"/>
              <a:t>3</a:t>
            </a:fld>
            <a:endParaRPr lang="en-US"/>
          </a:p>
        </p:txBody>
      </p:sp>
    </p:spTree>
    <p:extLst>
      <p:ext uri="{BB962C8B-B14F-4D97-AF65-F5344CB8AC3E}">
        <p14:creationId xmlns:p14="http://schemas.microsoft.com/office/powerpoint/2010/main" val="2550835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5</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p:txBody>
      </p:sp>
      <p:sp>
        <p:nvSpPr>
          <p:cNvPr id="4" name="Slide Number Placeholder 3"/>
          <p:cNvSpPr>
            <a:spLocks noGrp="1"/>
          </p:cNvSpPr>
          <p:nvPr>
            <p:ph type="sldNum" sz="quarter" idx="5"/>
          </p:nvPr>
        </p:nvSpPr>
        <p:spPr/>
        <p:txBody>
          <a:bodyPr/>
          <a:lstStyle/>
          <a:p>
            <a:fld id="{BE457D5F-ED05-449E-97D0-205DAB987247}" type="slidenum">
              <a:rPr lang="en-US" smtClean="0"/>
              <a:t>7</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p:txBody>
      </p:sp>
      <p:sp>
        <p:nvSpPr>
          <p:cNvPr id="4" name="Slide Number Placeholder 3"/>
          <p:cNvSpPr>
            <a:spLocks noGrp="1"/>
          </p:cNvSpPr>
          <p:nvPr>
            <p:ph type="sldNum" sz="quarter" idx="5"/>
          </p:nvPr>
        </p:nvSpPr>
        <p:spPr/>
        <p:txBody>
          <a:bodyPr/>
          <a:lstStyle/>
          <a:p>
            <a:fld id="{BE457D5F-ED05-449E-97D0-205DAB987247}" type="slidenum">
              <a:rPr lang="en-US" smtClean="0"/>
              <a:t>8</a:t>
            </a:fld>
            <a:endParaRPr lang="en-US"/>
          </a:p>
        </p:txBody>
      </p:sp>
    </p:spTree>
    <p:extLst>
      <p:ext uri="{BB962C8B-B14F-4D97-AF65-F5344CB8AC3E}">
        <p14:creationId xmlns:p14="http://schemas.microsoft.com/office/powerpoint/2010/main" val="3942348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https://base64.dev/articles/what-is-base64</a:t>
            </a:r>
          </a:p>
        </p:txBody>
      </p:sp>
      <p:sp>
        <p:nvSpPr>
          <p:cNvPr id="4" name="Slide Number Placeholder 3"/>
          <p:cNvSpPr>
            <a:spLocks noGrp="1"/>
          </p:cNvSpPr>
          <p:nvPr>
            <p:ph type="sldNum" sz="quarter" idx="5"/>
          </p:nvPr>
        </p:nvSpPr>
        <p:spPr/>
        <p:txBody>
          <a:bodyPr/>
          <a:lstStyle/>
          <a:p>
            <a:fld id="{BE457D5F-ED05-449E-97D0-205DAB987247}" type="slidenum">
              <a:rPr lang="en-US" smtClean="0"/>
              <a:t>12</a:t>
            </a:fld>
            <a:endParaRPr lang="en-US"/>
          </a:p>
        </p:txBody>
      </p:sp>
    </p:spTree>
    <p:extLst>
      <p:ext uri="{BB962C8B-B14F-4D97-AF65-F5344CB8AC3E}">
        <p14:creationId xmlns:p14="http://schemas.microsoft.com/office/powerpoint/2010/main" val="2920093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base64.b64encode</a:t>
            </a:r>
          </a:p>
          <a:p>
            <a:r>
              <a:rPr lang="en-US" dirty="0"/>
              <a:t>base64.b64decode</a:t>
            </a:r>
          </a:p>
        </p:txBody>
      </p:sp>
      <p:sp>
        <p:nvSpPr>
          <p:cNvPr id="4" name="Slide Number Placeholder 3"/>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28432984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02DE-DFC8-D451-2546-4F218A2A0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0FDF5-D189-423F-0586-8EDEC365E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7CF05-2E6F-D07E-AEDC-74BAC8A8C9F8}"/>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9D9E26E9-E2D3-BF05-C6B9-D2B8990F6D7D}"/>
              </a:ext>
            </a:extLst>
          </p:cNvPr>
          <p:cNvSpPr>
            <a:spLocks noGrp="1"/>
          </p:cNvSpPr>
          <p:nvPr>
            <p:ph type="sldNum" sz="quarter" idx="5"/>
          </p:nvPr>
        </p:nvSpPr>
        <p:spPr/>
        <p:txBody>
          <a:bodyPr/>
          <a:lstStyle/>
          <a:p>
            <a:fld id="{BE457D5F-ED05-449E-97D0-205DAB987247}" type="slidenum">
              <a:rPr lang="en-US" smtClean="0"/>
              <a:t>15</a:t>
            </a:fld>
            <a:endParaRPr lang="en-US"/>
          </a:p>
        </p:txBody>
      </p:sp>
    </p:spTree>
    <p:extLst>
      <p:ext uri="{BB962C8B-B14F-4D97-AF65-F5344CB8AC3E}">
        <p14:creationId xmlns:p14="http://schemas.microsoft.com/office/powerpoint/2010/main" val="3150115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1A957-493B-D9CB-B33A-C0283A5114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AF6A-9FA6-98B0-0196-DD909BBC4B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8F741-0C43-0FA6-80D7-C91035EC956B}"/>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823EE639-A545-DD0A-0A9C-DAC57C611113}"/>
              </a:ext>
            </a:extLst>
          </p:cNvPr>
          <p:cNvSpPr>
            <a:spLocks noGrp="1"/>
          </p:cNvSpPr>
          <p:nvPr>
            <p:ph type="sldNum" sz="quarter" idx="5"/>
          </p:nvPr>
        </p:nvSpPr>
        <p:spPr/>
        <p:txBody>
          <a:bodyPr/>
          <a:lstStyle/>
          <a:p>
            <a:fld id="{BE457D5F-ED05-449E-97D0-205DAB987247}" type="slidenum">
              <a:rPr lang="en-US" smtClean="0"/>
              <a:t>16</a:t>
            </a:fld>
            <a:endParaRPr lang="en-US"/>
          </a:p>
        </p:txBody>
      </p:sp>
    </p:spTree>
    <p:extLst>
      <p:ext uri="{BB962C8B-B14F-4D97-AF65-F5344CB8AC3E}">
        <p14:creationId xmlns:p14="http://schemas.microsoft.com/office/powerpoint/2010/main" val="30457617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CF528-9826-BCC1-BDA2-5C59B46E11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F6B39-0CF7-38D2-AA55-08BAEA0B32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070C2-CDE2-0841-E91E-CF5B5112B0D7}"/>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24ED080A-40DB-A76C-ABF6-2054C9229666}"/>
              </a:ext>
            </a:extLst>
          </p:cNvPr>
          <p:cNvSpPr>
            <a:spLocks noGrp="1"/>
          </p:cNvSpPr>
          <p:nvPr>
            <p:ph type="sldNum" sz="quarter" idx="5"/>
          </p:nvPr>
        </p:nvSpPr>
        <p:spPr/>
        <p:txBody>
          <a:bodyPr/>
          <a:lstStyle/>
          <a:p>
            <a:fld id="{BE457D5F-ED05-449E-97D0-205DAB987247}" type="slidenum">
              <a:rPr lang="en-US" smtClean="0"/>
              <a:t>17</a:t>
            </a:fld>
            <a:endParaRPr lang="en-US"/>
          </a:p>
        </p:txBody>
      </p:sp>
    </p:spTree>
    <p:extLst>
      <p:ext uri="{BB962C8B-B14F-4D97-AF65-F5344CB8AC3E}">
        <p14:creationId xmlns:p14="http://schemas.microsoft.com/office/powerpoint/2010/main" val="10091614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Sending password repeatedly</a:t>
            </a:r>
          </a:p>
          <a:p>
            <a:pPr marL="171450" indent="-171450">
              <a:buFontTx/>
              <a:buChar char="-"/>
            </a:pPr>
            <a:r>
              <a:rPr lang="en-US" dirty="0"/>
              <a:t>Cannot auth 3rd parties</a:t>
            </a:r>
          </a:p>
        </p:txBody>
      </p:sp>
      <p:sp>
        <p:nvSpPr>
          <p:cNvPr id="4" name="Slide Number Placeholder 3"/>
          <p:cNvSpPr>
            <a:spLocks noGrp="1"/>
          </p:cNvSpPr>
          <p:nvPr>
            <p:ph type="sldNum" sz="quarter" idx="5"/>
          </p:nvPr>
        </p:nvSpPr>
        <p:spPr/>
        <p:txBody>
          <a:bodyPr/>
          <a:lstStyle/>
          <a:p>
            <a:fld id="{BE457D5F-ED05-449E-97D0-205DAB987247}" type="slidenum">
              <a:rPr lang="en-US" smtClean="0"/>
              <a:t>21</a:t>
            </a:fld>
            <a:endParaRPr lang="en-US"/>
          </a:p>
        </p:txBody>
      </p:sp>
    </p:spTree>
    <p:extLst>
      <p:ext uri="{BB962C8B-B14F-4D97-AF65-F5344CB8AC3E}">
        <p14:creationId xmlns:p14="http://schemas.microsoft.com/office/powerpoint/2010/main" val="12652150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Hard to rotate keys</a:t>
            </a:r>
          </a:p>
          <a:p>
            <a:pPr marL="171450" indent="-171450">
              <a:buFontTx/>
              <a:buChar char="-"/>
            </a:pPr>
            <a:r>
              <a:rPr lang="en-US" dirty="0"/>
              <a:t>Generally not user-specific</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22</a:t>
            </a:fld>
            <a:endParaRPr lang="en-US"/>
          </a:p>
        </p:txBody>
      </p:sp>
    </p:spTree>
    <p:extLst>
      <p:ext uri="{BB962C8B-B14F-4D97-AF65-F5344CB8AC3E}">
        <p14:creationId xmlns:p14="http://schemas.microsoft.com/office/powerpoint/2010/main" val="12530761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Stateful</a:t>
            </a:r>
          </a:p>
          <a:p>
            <a:pPr marL="171450" indent="-171450">
              <a:buFontTx/>
              <a:buChar char="-"/>
            </a:pPr>
            <a:r>
              <a:rPr lang="en-US" dirty="0"/>
              <a:t>Cannot auth 3rd parties</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23</a:t>
            </a:fld>
            <a:endParaRPr lang="en-US"/>
          </a:p>
        </p:txBody>
      </p:sp>
    </p:spTree>
    <p:extLst>
      <p:ext uri="{BB962C8B-B14F-4D97-AF65-F5344CB8AC3E}">
        <p14:creationId xmlns:p14="http://schemas.microsoft.com/office/powerpoint/2010/main" val="38306405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Limited scope / time</a:t>
            </a:r>
          </a:p>
          <a:p>
            <a:pPr marL="171450" indent="-171450">
              <a:buFontTx/>
              <a:buChar char="-"/>
            </a:pPr>
            <a:r>
              <a:rPr lang="en-US" dirty="0"/>
              <a:t>User-specific</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Complexity</a:t>
            </a:r>
          </a:p>
          <a:p>
            <a:endParaRPr lang="en-US" dirty="0"/>
          </a:p>
          <a:p>
            <a:endParaRPr lang="en-US" dirty="0"/>
          </a:p>
          <a:p>
            <a:r>
              <a:rPr lang="en-US" dirty="0"/>
              <a:t>https://www.c-sharpcorner.com/article/a-net-developers-complete-guide-to-choose-right-authentication-from-basic-aut/</a:t>
            </a:r>
          </a:p>
        </p:txBody>
      </p:sp>
      <p:sp>
        <p:nvSpPr>
          <p:cNvPr id="4" name="Slide Number Placeholder 3"/>
          <p:cNvSpPr>
            <a:spLocks noGrp="1"/>
          </p:cNvSpPr>
          <p:nvPr>
            <p:ph type="sldNum" sz="quarter" idx="5"/>
          </p:nvPr>
        </p:nvSpPr>
        <p:spPr/>
        <p:txBody>
          <a:bodyPr/>
          <a:lstStyle/>
          <a:p>
            <a:fld id="{BE457D5F-ED05-449E-97D0-205DAB987247}" type="slidenum">
              <a:rPr lang="en-US" smtClean="0"/>
              <a:t>24</a:t>
            </a:fld>
            <a:endParaRPr lang="en-US"/>
          </a:p>
        </p:txBody>
      </p:sp>
    </p:spTree>
    <p:extLst>
      <p:ext uri="{BB962C8B-B14F-4D97-AF65-F5344CB8AC3E}">
        <p14:creationId xmlns:p14="http://schemas.microsoft.com/office/powerpoint/2010/main" val="16103832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https://medium.com/@reddyyashu20/beginners-guide-to-fastapi-openai-chatgpt-api-integration-50a0c3b8571e</a:t>
            </a:r>
          </a:p>
        </p:txBody>
      </p:sp>
      <p:sp>
        <p:nvSpPr>
          <p:cNvPr id="4" name="Slide Number Placeholder 3"/>
          <p:cNvSpPr>
            <a:spLocks noGrp="1"/>
          </p:cNvSpPr>
          <p:nvPr>
            <p:ph type="sldNum" sz="quarter" idx="5"/>
          </p:nvPr>
        </p:nvSpPr>
        <p:spPr/>
        <p:txBody>
          <a:bodyPr/>
          <a:lstStyle/>
          <a:p>
            <a:fld id="{BE457D5F-ED05-449E-97D0-205DAB987247}" type="slidenum">
              <a:rPr lang="en-US" smtClean="0"/>
              <a:t>25</a:t>
            </a:fld>
            <a:endParaRPr lang="en-US"/>
          </a:p>
        </p:txBody>
      </p:sp>
    </p:spTree>
    <p:extLst>
      <p:ext uri="{BB962C8B-B14F-4D97-AF65-F5344CB8AC3E}">
        <p14:creationId xmlns:p14="http://schemas.microsoft.com/office/powerpoint/2010/main" val="4233136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3 August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3 August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3 August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3 August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3 August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3 August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3 August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3 August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3 August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3 August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3 August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3 August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3 August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3 August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3 August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3 August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3 August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3 August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3 August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3 August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3 August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3 August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3 August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3 August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3 August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3 August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3 August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3 August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3 August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8/3/2026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3 August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hyperlink" Target="https://docs.python-requests.org/en/latest/user/quickstart/#make-a-request" TargetMode="Externa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18.xml.rels><?xml version="1.0" encoding="UTF-8" standalone="yes"?>
<Relationships xmlns="http://schemas.openxmlformats.org/package/2006/relationships"><Relationship Id="rId2" Type="http://schemas.openxmlformats.org/officeDocument/2006/relationships/hyperlink" Target="https://developer.paypal.com/api/rest/" TargetMode="Externa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hyperlink" Target="https://api.github.com/repos/%7bowner%7d/%7brepo%7d/commits" TargetMode="Externa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dirty="0"/>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dirty="0"/>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dirty="0"/>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dirty="0"/>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dirty="0"/>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dirty="0"/>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87CF-5E92-D709-ADC1-CD5AB2C3F7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BB9CF-99E0-34C2-13BD-CE711791B329}"/>
              </a:ext>
            </a:extLst>
          </p:cNvPr>
          <p:cNvSpPr>
            <a:spLocks noGrp="1"/>
          </p:cNvSpPr>
          <p:nvPr>
            <p:ph type="title"/>
          </p:nvPr>
        </p:nvSpPr>
        <p:spPr/>
        <p:txBody>
          <a:bodyPr/>
          <a:lstStyle/>
          <a:p>
            <a:br>
              <a:rPr lang="en-US" dirty="0"/>
            </a:br>
            <a:r>
              <a:rPr lang="en-US" dirty="0"/>
              <a:t>Course Schedule</a:t>
            </a:r>
          </a:p>
        </p:txBody>
      </p:sp>
      <p:pic>
        <p:nvPicPr>
          <p:cNvPr id="7" name="Content Placeholder 6">
            <a:extLst>
              <a:ext uri="{FF2B5EF4-FFF2-40B4-BE49-F238E27FC236}">
                <a16:creationId xmlns:a16="http://schemas.microsoft.com/office/drawing/2014/main" id="{D6C03BA8-C242-A7E3-06B9-2FDDD142A3E2}"/>
              </a:ext>
            </a:extLst>
          </p:cNvPr>
          <p:cNvPicPr>
            <a:picLocks noGrp="1" noChangeAspect="1"/>
          </p:cNvPicPr>
          <p:nvPr>
            <p:ph idx="1"/>
          </p:nvPr>
        </p:nvPicPr>
        <p:blipFill>
          <a:blip r:embed="rId3"/>
          <a:stretch>
            <a:fillRect/>
          </a:stretch>
        </p:blipFill>
        <p:spPr>
          <a:xfrm>
            <a:off x="508000" y="1318800"/>
            <a:ext cx="11176000" cy="4955141"/>
          </a:xfrm>
          <a:prstGeom prst="rect">
            <a:avLst/>
          </a:prstGeom>
          <a:noFill/>
          <a:ln>
            <a:noFill/>
          </a:ln>
        </p:spPr>
      </p:pic>
      <p:sp>
        <p:nvSpPr>
          <p:cNvPr id="8" name="Rectangle 7">
            <a:extLst>
              <a:ext uri="{FF2B5EF4-FFF2-40B4-BE49-F238E27FC236}">
                <a16:creationId xmlns:a16="http://schemas.microsoft.com/office/drawing/2014/main" id="{0C366FE1-DAFA-E7EC-025F-E1D1E8686851}"/>
              </a:ext>
            </a:extLst>
          </p:cNvPr>
          <p:cNvSpPr/>
          <p:nvPr/>
        </p:nvSpPr>
        <p:spPr>
          <a:xfrm>
            <a:off x="508000" y="4345259"/>
            <a:ext cx="5852160" cy="206421"/>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919185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B369-AE4D-CA21-B4DF-EE99F4ACBA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57334B-DBC0-D986-2C7B-E768BF7FF8D6}"/>
              </a:ext>
            </a:extLst>
          </p:cNvPr>
          <p:cNvSpPr>
            <a:spLocks noGrp="1"/>
          </p:cNvSpPr>
          <p:nvPr>
            <p:ph type="title"/>
          </p:nvPr>
        </p:nvSpPr>
        <p:spPr/>
        <p:txBody>
          <a:bodyPr/>
          <a:lstStyle/>
          <a:p>
            <a:r>
              <a:rPr lang="en-US" dirty="0"/>
              <a:t>Lesson Objectives</a:t>
            </a:r>
          </a:p>
        </p:txBody>
      </p:sp>
      <p:sp>
        <p:nvSpPr>
          <p:cNvPr id="4" name="Content Placeholder 3">
            <a:extLst>
              <a:ext uri="{FF2B5EF4-FFF2-40B4-BE49-F238E27FC236}">
                <a16:creationId xmlns:a16="http://schemas.microsoft.com/office/drawing/2014/main" id="{C5FCC889-09CB-91DA-8886-1B474E084665}"/>
              </a:ext>
            </a:extLst>
          </p:cNvPr>
          <p:cNvSpPr>
            <a:spLocks noGrp="1"/>
          </p:cNvSpPr>
          <p:nvPr>
            <p:ph idx="1"/>
          </p:nvPr>
        </p:nvSpPr>
        <p:spPr/>
        <p:txBody>
          <a:bodyPr>
            <a:normAutofit/>
          </a:bodyPr>
          <a:lstStyle/>
          <a:p>
            <a:r>
              <a:rPr lang="en-US" dirty="0"/>
              <a:t>Implement HTTP request handling</a:t>
            </a:r>
          </a:p>
          <a:p>
            <a:r>
              <a:rPr lang="en-US" dirty="0"/>
              <a:t>Understand and implement API calls</a:t>
            </a:r>
          </a:p>
          <a:p>
            <a:r>
              <a:rPr lang="en-US" dirty="0"/>
              <a:t>Understand HTTP authentication schemes</a:t>
            </a:r>
          </a:p>
          <a:p>
            <a:endParaRPr lang="en-US" dirty="0"/>
          </a:p>
        </p:txBody>
      </p:sp>
    </p:spTree>
    <p:extLst>
      <p:ext uri="{BB962C8B-B14F-4D97-AF65-F5344CB8AC3E}">
        <p14:creationId xmlns:p14="http://schemas.microsoft.com/office/powerpoint/2010/main" val="889373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p:txBody>
          <a:bodyPr/>
          <a:lstStyle/>
          <a:p>
            <a:r>
              <a:rPr lang="en-US" dirty="0" err="1"/>
              <a:t>HyperText</a:t>
            </a:r>
            <a:r>
              <a:rPr lang="en-US" dirty="0"/>
              <a:t> Transfer Protocol</a:t>
            </a:r>
            <a:br>
              <a:rPr lang="en-US" dirty="0"/>
            </a:br>
            <a:r>
              <a:rPr lang="en-US" dirty="0"/>
              <a:t>(HTTP)</a:t>
            </a:r>
          </a:p>
        </p:txBody>
      </p:sp>
      <p:pic>
        <p:nvPicPr>
          <p:cNvPr id="3" name="Picture 2" descr="What is an HTTP server? · Hyperskill">
            <a:extLst>
              <a:ext uri="{FF2B5EF4-FFF2-40B4-BE49-F238E27FC236}">
                <a16:creationId xmlns:a16="http://schemas.microsoft.com/office/drawing/2014/main" id="{F61D64F0-8179-E8F0-2DA3-EA073A0A4362}"/>
              </a:ext>
            </a:extLst>
          </p:cNvPr>
          <p:cNvPicPr>
            <a:picLocks noChangeAspect="1"/>
          </p:cNvPicPr>
          <p:nvPr/>
        </p:nvPicPr>
        <p:blipFill>
          <a:blip r:embed="rId3"/>
          <a:stretch>
            <a:fillRect/>
          </a:stretch>
        </p:blipFill>
        <p:spPr>
          <a:xfrm>
            <a:off x="3667317" y="1706525"/>
            <a:ext cx="8524683" cy="5151475"/>
          </a:xfrm>
          <a:prstGeom prst="rect">
            <a:avLst/>
          </a:prstGeom>
        </p:spPr>
      </p:pic>
      <p:sp>
        <p:nvSpPr>
          <p:cNvPr id="4" name="Content Placeholder 3">
            <a:extLst>
              <a:ext uri="{FF2B5EF4-FFF2-40B4-BE49-F238E27FC236}">
                <a16:creationId xmlns:a16="http://schemas.microsoft.com/office/drawing/2014/main" id="{86702865-14F7-75BA-971C-7F030292EED0}"/>
              </a:ext>
            </a:extLst>
          </p:cNvPr>
          <p:cNvSpPr>
            <a:spLocks noGrp="1"/>
          </p:cNvSpPr>
          <p:nvPr>
            <p:ph idx="1"/>
          </p:nvPr>
        </p:nvSpPr>
        <p:spPr/>
        <p:txBody>
          <a:bodyPr>
            <a:normAutofit/>
          </a:bodyPr>
          <a:lstStyle/>
          <a:p>
            <a:r>
              <a:rPr lang="en-US" dirty="0"/>
              <a:t>Specified in RFC 1945 (May 1996!)</a:t>
            </a:r>
          </a:p>
          <a:p>
            <a:r>
              <a:rPr lang="en-US" dirty="0"/>
              <a:t>Consists of clients, servers, requests, </a:t>
            </a:r>
            <a:br>
              <a:rPr lang="en-US" dirty="0"/>
            </a:br>
            <a:r>
              <a:rPr lang="en-US" dirty="0"/>
              <a:t>and responses</a:t>
            </a:r>
          </a:p>
          <a:p>
            <a:r>
              <a:rPr lang="en-US" dirty="0"/>
              <a:t>"The language of the web"</a:t>
            </a:r>
          </a:p>
          <a:p>
            <a:r>
              <a:rPr lang="en-US" dirty="0"/>
              <a:t>Improvements and modifications over time</a:t>
            </a:r>
          </a:p>
        </p:txBody>
      </p:sp>
    </p:spTree>
    <p:extLst>
      <p:ext uri="{BB962C8B-B14F-4D97-AF65-F5344CB8AC3E}">
        <p14:creationId xmlns:p14="http://schemas.microsoft.com/office/powerpoint/2010/main" val="3708550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5</a:t>
            </a:fld>
            <a:endParaRPr lang="en-US"/>
          </a:p>
        </p:txBody>
      </p:sp>
    </p:spTree>
    <p:extLst>
      <p:ext uri="{BB962C8B-B14F-4D97-AF65-F5344CB8AC3E}">
        <p14:creationId xmlns:p14="http://schemas.microsoft.com/office/powerpoint/2010/main" val="35326791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Core 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3" y="1364354"/>
            <a:ext cx="4924108" cy="1929463"/>
          </a:xfrm>
        </p:spPr>
        <p:txBody>
          <a:bodyPr>
            <a:normAutofit/>
          </a:bodyPr>
          <a:lstStyle/>
          <a:p>
            <a:r>
              <a:rPr lang="en-US" sz="2000" dirty="0"/>
              <a:t>GET – request data from server</a:t>
            </a:r>
          </a:p>
          <a:p>
            <a:r>
              <a:rPr lang="en-US" sz="2000" dirty="0"/>
              <a:t>POST – submit data to the server</a:t>
            </a:r>
          </a:p>
          <a:p>
            <a:r>
              <a:rPr lang="en-US" sz="2000" dirty="0"/>
              <a:t>PUT – replace data in the server</a:t>
            </a:r>
          </a:p>
          <a:p>
            <a:r>
              <a:rPr lang="en-US" sz="2000" dirty="0"/>
              <a:t>DELETE – remove specified resource from the server</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07777"/>
          </a:xfrm>
          <a:prstGeom prst="rect">
            <a:avLst/>
          </a:prstGeom>
          <a:noFill/>
        </p:spPr>
        <p:txBody>
          <a:bodyPr wrap="square" rtlCol="0">
            <a:spAutoFit/>
          </a:bodyPr>
          <a:lstStyle/>
          <a:p>
            <a:r>
              <a:rPr lang="en-US" sz="1400" dirty="0"/>
              <a:t>https://developer.mozilla.org/en-US/docs/Web/HTTP/Reference/Status</a:t>
            </a:r>
          </a:p>
        </p:txBody>
      </p:sp>
      <p:sp>
        <p:nvSpPr>
          <p:cNvPr id="7" name="Left Brace 6">
            <a:extLst>
              <a:ext uri="{FF2B5EF4-FFF2-40B4-BE49-F238E27FC236}">
                <a16:creationId xmlns:a16="http://schemas.microsoft.com/office/drawing/2014/main" id="{6F6A88D1-044D-E108-038F-DCE81C6223DD}"/>
              </a:ext>
            </a:extLst>
          </p:cNvPr>
          <p:cNvSpPr/>
          <p:nvPr/>
        </p:nvSpPr>
        <p:spPr>
          <a:xfrm>
            <a:off x="6898640" y="1690688"/>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9" name="TextBox 8">
            <a:extLst>
              <a:ext uri="{FF2B5EF4-FFF2-40B4-BE49-F238E27FC236}">
                <a16:creationId xmlns:a16="http://schemas.microsoft.com/office/drawing/2014/main" id="{FC569EF5-3CEC-48F8-711E-51147D4D948E}"/>
              </a:ext>
            </a:extLst>
          </p:cNvPr>
          <p:cNvSpPr txBox="1"/>
          <p:nvPr/>
        </p:nvSpPr>
        <p:spPr>
          <a:xfrm>
            <a:off x="5760720" y="1890475"/>
            <a:ext cx="1137920" cy="453854"/>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Successful Connection</a:t>
            </a:r>
          </a:p>
        </p:txBody>
      </p:sp>
      <p:sp>
        <p:nvSpPr>
          <p:cNvPr id="11" name="Left Brace 10">
            <a:extLst>
              <a:ext uri="{FF2B5EF4-FFF2-40B4-BE49-F238E27FC236}">
                <a16:creationId xmlns:a16="http://schemas.microsoft.com/office/drawing/2014/main" id="{DF1837EB-AFF1-5E10-4265-BF722E24285C}"/>
              </a:ext>
            </a:extLst>
          </p:cNvPr>
          <p:cNvSpPr/>
          <p:nvPr/>
        </p:nvSpPr>
        <p:spPr>
          <a:xfrm>
            <a:off x="6898640" y="2666791"/>
            <a:ext cx="350519" cy="899139"/>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3" name="TextBox 12">
            <a:extLst>
              <a:ext uri="{FF2B5EF4-FFF2-40B4-BE49-F238E27FC236}">
                <a16:creationId xmlns:a16="http://schemas.microsoft.com/office/drawing/2014/main" id="{4AA697AD-DEF5-F727-A8B3-F393C7A2E9A6}"/>
              </a:ext>
            </a:extLst>
          </p:cNvPr>
          <p:cNvSpPr txBox="1"/>
          <p:nvPr/>
        </p:nvSpPr>
        <p:spPr>
          <a:xfrm>
            <a:off x="5760720" y="2962256"/>
            <a:ext cx="1137920" cy="331561"/>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Redirection</a:t>
            </a:r>
          </a:p>
        </p:txBody>
      </p:sp>
      <p:sp>
        <p:nvSpPr>
          <p:cNvPr id="15" name="Left Brace 14">
            <a:extLst>
              <a:ext uri="{FF2B5EF4-FFF2-40B4-BE49-F238E27FC236}">
                <a16:creationId xmlns:a16="http://schemas.microsoft.com/office/drawing/2014/main" id="{CEAF2E8F-E8EA-7900-8B56-244EF6912C32}"/>
              </a:ext>
            </a:extLst>
          </p:cNvPr>
          <p:cNvSpPr/>
          <p:nvPr/>
        </p:nvSpPr>
        <p:spPr>
          <a:xfrm>
            <a:off x="6898640" y="3642894"/>
            <a:ext cx="350519" cy="1232134"/>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17" name="TextBox 16">
            <a:extLst>
              <a:ext uri="{FF2B5EF4-FFF2-40B4-BE49-F238E27FC236}">
                <a16:creationId xmlns:a16="http://schemas.microsoft.com/office/drawing/2014/main" id="{6C047838-A363-B1B3-2CCF-1DFD2B397954}"/>
              </a:ext>
            </a:extLst>
          </p:cNvPr>
          <p:cNvSpPr txBox="1"/>
          <p:nvPr/>
        </p:nvSpPr>
        <p:spPr>
          <a:xfrm>
            <a:off x="5760720" y="4035323"/>
            <a:ext cx="1137920" cy="454355"/>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Client Error (you)</a:t>
            </a:r>
          </a:p>
        </p:txBody>
      </p:sp>
      <p:sp>
        <p:nvSpPr>
          <p:cNvPr id="19" name="Left Brace 18">
            <a:extLst>
              <a:ext uri="{FF2B5EF4-FFF2-40B4-BE49-F238E27FC236}">
                <a16:creationId xmlns:a16="http://schemas.microsoft.com/office/drawing/2014/main" id="{55AEF595-E991-4552-AEAB-8C0CBBE035ED}"/>
              </a:ext>
            </a:extLst>
          </p:cNvPr>
          <p:cNvSpPr/>
          <p:nvPr/>
        </p:nvSpPr>
        <p:spPr>
          <a:xfrm>
            <a:off x="6898640" y="4951992"/>
            <a:ext cx="350519" cy="1327207"/>
          </a:xfrm>
          <a:prstGeom prst="leftBrace">
            <a:avLst/>
          </a:prstGeom>
          <a:ln w="12700" cap="flat">
            <a:miter/>
          </a:ln>
        </p:spPr>
        <p:style>
          <a:lnRef idx="1">
            <a:schemeClr val="accent1"/>
          </a:lnRef>
          <a:fillRef idx="0">
            <a:schemeClr val="accent1"/>
          </a:fillRef>
          <a:effectRef idx="0">
            <a:srgbClr val="000000"/>
          </a:effectRef>
          <a:fontRef idx="minor">
            <a:srgbClr val="FFFFFF"/>
          </a:fontRef>
        </p:style>
        <p:txBody>
          <a:bodyPr rtlCol="0" anchor="ctr"/>
          <a:lstStyle/>
          <a:p>
            <a:pPr algn="ctr"/>
            <a:endParaRPr lang="en-US"/>
          </a:p>
        </p:txBody>
      </p:sp>
      <p:sp>
        <p:nvSpPr>
          <p:cNvPr id="21" name="TextBox 20">
            <a:extLst>
              <a:ext uri="{FF2B5EF4-FFF2-40B4-BE49-F238E27FC236}">
                <a16:creationId xmlns:a16="http://schemas.microsoft.com/office/drawing/2014/main" id="{307C35D5-A292-82B5-7861-3DB91660466F}"/>
              </a:ext>
            </a:extLst>
          </p:cNvPr>
          <p:cNvSpPr txBox="1"/>
          <p:nvPr/>
        </p:nvSpPr>
        <p:spPr>
          <a:xfrm>
            <a:off x="5760720" y="5371404"/>
            <a:ext cx="1137920" cy="489413"/>
          </a:xfrm>
          <a:prstGeom prst="rect">
            <a:avLst/>
          </a:prstGeom>
          <a:noFill/>
        </p:spPr>
        <p:txBody>
          <a:bodyPr wrap="square" lIns="0" tIns="0" rIns="0" bIns="0" rtlCol="0">
            <a:noAutofit/>
          </a:bodyPr>
          <a:lstStyle/>
          <a:p>
            <a:pPr algn="ctr">
              <a:lnSpc>
                <a:spcPct val="95000"/>
              </a:lnSpc>
              <a:spcBef>
                <a:spcPts val="1000"/>
              </a:spcBef>
              <a:buSzPct val="100000"/>
            </a:pPr>
            <a:r>
              <a:rPr lang="en-US" sz="1600" dirty="0"/>
              <a:t>Server Error (them)</a:t>
            </a:r>
          </a:p>
        </p:txBody>
      </p:sp>
      <p:sp>
        <p:nvSpPr>
          <p:cNvPr id="23" name="TextBox 22">
            <a:extLst>
              <a:ext uri="{FF2B5EF4-FFF2-40B4-BE49-F238E27FC236}">
                <a16:creationId xmlns:a16="http://schemas.microsoft.com/office/drawing/2014/main" id="{28E79591-B4A8-9C7D-A3FE-8AB9C0E13D6F}"/>
              </a:ext>
            </a:extLst>
          </p:cNvPr>
          <p:cNvSpPr txBox="1"/>
          <p:nvPr/>
        </p:nvSpPr>
        <p:spPr>
          <a:xfrm>
            <a:off x="836614" y="3874774"/>
            <a:ext cx="4782134" cy="1938992"/>
          </a:xfrm>
          <a:prstGeom prst="rect">
            <a:avLst/>
          </a:prstGeom>
          <a:noFill/>
        </p:spPr>
        <p:txBody>
          <a:bodyPr wrap="square">
            <a:spAutoFit/>
          </a:bodyPr>
          <a:lstStyle/>
          <a:p>
            <a:pPr marL="342900" indent="-342900">
              <a:buFont typeface="Arial" panose="020B0604020202020204" pitchFamily="34" charset="0"/>
              <a:buChar char="•"/>
            </a:pPr>
            <a:r>
              <a:rPr lang="en-US" sz="2000" dirty="0"/>
              <a:t>HEAD – only returns with the headers, no content</a:t>
            </a:r>
          </a:p>
          <a:p>
            <a:pPr marL="342900" indent="-342900">
              <a:buFont typeface="Arial" panose="020B0604020202020204" pitchFamily="34" charset="0"/>
              <a:buChar char="•"/>
            </a:pPr>
            <a:r>
              <a:rPr lang="en-US" sz="2000" dirty="0"/>
              <a:t>TRACE – send back exactly what the server received (good for diagnostics)</a:t>
            </a:r>
          </a:p>
          <a:p>
            <a:pPr marL="342900" indent="-342900">
              <a:buFont typeface="Arial" panose="020B0604020202020204" pitchFamily="34" charset="0"/>
              <a:buChar char="•"/>
            </a:pPr>
            <a:r>
              <a:rPr lang="en-US" sz="2000" dirty="0"/>
              <a:t>Extension methods – custom or protocol-specific verb </a:t>
            </a:r>
          </a:p>
        </p:txBody>
      </p:sp>
      <p:sp>
        <p:nvSpPr>
          <p:cNvPr id="26" name="Text Placeholder 2">
            <a:extLst>
              <a:ext uri="{FF2B5EF4-FFF2-40B4-BE49-F238E27FC236}">
                <a16:creationId xmlns:a16="http://schemas.microsoft.com/office/drawing/2014/main" id="{070E7B97-3271-6F24-0949-745D0EBBDC3C}"/>
              </a:ext>
            </a:extLst>
          </p:cNvPr>
          <p:cNvSpPr txBox="1">
            <a:spLocks/>
          </p:cNvSpPr>
          <p:nvPr/>
        </p:nvSpPr>
        <p:spPr>
          <a:xfrm>
            <a:off x="839787" y="2970588"/>
            <a:ext cx="5157787" cy="823912"/>
          </a:xfrm>
          <a:prstGeom prst="rect">
            <a:avLst/>
          </a:prstGeom>
        </p:spPr>
        <p:txBody>
          <a:bodyPr vert="horz" lIns="0" tIns="0" rIns="0" bIns="0" spcCol="365760" rtlCol="0" anchor="b">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(Some) Other Request Methods</a:t>
            </a:r>
          </a:p>
        </p:txBody>
      </p:sp>
    </p:spTree>
    <p:extLst>
      <p:ext uri="{BB962C8B-B14F-4D97-AF65-F5344CB8AC3E}">
        <p14:creationId xmlns:p14="http://schemas.microsoft.com/office/powerpoint/2010/main" val="1543073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325881"/>
            <a:ext cx="10027920" cy="4846320"/>
          </a:xfrm>
        </p:spPr>
        <p:txBody>
          <a:bodyPr>
            <a:normAutofit/>
          </a:bodyPr>
          <a:lstStyle/>
          <a:p>
            <a:r>
              <a:rPr lang="en-US" b="1" dirty="0"/>
              <a:t>telnet:</a:t>
            </a:r>
            <a:r>
              <a:rPr lang="en-US" dirty="0"/>
              <a:t> A text-based terminal tool.</a:t>
            </a:r>
          </a:p>
          <a:p>
            <a:r>
              <a:rPr lang="en-US" b="1" dirty="0" err="1"/>
              <a:t>wget</a:t>
            </a:r>
            <a:r>
              <a:rPr lang="en-US" b="1" dirty="0"/>
              <a:t>:</a:t>
            </a:r>
            <a:r>
              <a:rPr lang="en-US" dirty="0"/>
              <a:t> A command-line utility optimized for downloading files.</a:t>
            </a:r>
          </a:p>
          <a:p>
            <a:r>
              <a:rPr lang="en-US" b="1" dirty="0"/>
              <a:t>curl:</a:t>
            </a:r>
            <a:r>
              <a:rPr lang="en-US" dirty="0"/>
              <a:t> The industry-standard command-line tool.</a:t>
            </a:r>
          </a:p>
          <a:p>
            <a:r>
              <a:rPr lang="en-US" b="1" dirty="0"/>
              <a:t>postman:</a:t>
            </a:r>
            <a:r>
              <a:rPr lang="en-US" dirty="0"/>
              <a:t> A user-friendly, graphical application.</a:t>
            </a:r>
          </a:p>
          <a:p>
            <a:r>
              <a:rPr lang="en-US" b="1" dirty="0"/>
              <a:t>requests:</a:t>
            </a:r>
            <a:r>
              <a:rPr lang="en-US" dirty="0"/>
              <a:t> A popular, elegant Python library.</a:t>
            </a:r>
          </a:p>
          <a:p>
            <a:r>
              <a:rPr lang="en-US" b="1" dirty="0"/>
              <a:t>Wireshark:</a:t>
            </a:r>
            <a:r>
              <a:rPr lang="en-US" dirty="0"/>
              <a:t> A powerful network packet analyzer.</a:t>
            </a:r>
          </a:p>
          <a:p>
            <a:r>
              <a:rPr lang="en-US" b="1" dirty="0"/>
              <a:t>Browser (dev tools too!):</a:t>
            </a:r>
            <a:r>
              <a:rPr lang="en-US" dirty="0"/>
              <a:t> built-in Developer Tools (Network Tab).</a:t>
            </a:r>
          </a:p>
          <a:p>
            <a:endParaRPr lang="en-US" dirty="0"/>
          </a:p>
          <a:p>
            <a:pPr marL="0" indent="0">
              <a:buNone/>
            </a:pPr>
            <a:r>
              <a:rPr lang="en-US" sz="4000" b="1" dirty="0"/>
              <a:t>Demo</a:t>
            </a:r>
            <a:endParaRPr lang="en-US" b="1" dirty="0"/>
          </a:p>
        </p:txBody>
      </p:sp>
    </p:spTree>
    <p:extLst>
      <p:ext uri="{BB962C8B-B14F-4D97-AF65-F5344CB8AC3E}">
        <p14:creationId xmlns:p14="http://schemas.microsoft.com/office/powerpoint/2010/main" val="20127621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 </a:t>
            </a:r>
          </a:p>
          <a:p>
            <a:r>
              <a:rPr lang="en-US" dirty="0">
                <a:hlinkClick r:id="rId2"/>
              </a:rPr>
              <a:t>https://docs.python-requests.org/en/latest/user/quickstart/#make-a-request</a:t>
            </a:r>
            <a:endParaRPr lang="en-US" dirty="0"/>
          </a:p>
          <a:p>
            <a:endParaRPr lang="en-US" dirty="0"/>
          </a:p>
          <a:p>
            <a:r>
              <a:rPr lang="en-US" dirty="0"/>
              <a:t>Demo</a:t>
            </a:r>
          </a:p>
        </p:txBody>
      </p:sp>
    </p:spTree>
    <p:extLst>
      <p:ext uri="{BB962C8B-B14F-4D97-AF65-F5344CB8AC3E}">
        <p14:creationId xmlns:p14="http://schemas.microsoft.com/office/powerpoint/2010/main" val="1157162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9E38-6DAD-E4D7-9B8A-2000494494F0}"/>
              </a:ext>
            </a:extLst>
          </p:cNvPr>
          <p:cNvSpPr>
            <a:spLocks noGrp="1"/>
          </p:cNvSpPr>
          <p:nvPr>
            <p:ph type="title"/>
          </p:nvPr>
        </p:nvSpPr>
        <p:spPr/>
        <p:txBody>
          <a:bodyPr/>
          <a:lstStyle/>
          <a:p>
            <a:r>
              <a:rPr lang="en-US" dirty="0"/>
              <a:t>More Than Text</a:t>
            </a:r>
          </a:p>
        </p:txBody>
      </p:sp>
      <p:sp>
        <p:nvSpPr>
          <p:cNvPr id="3" name="Content Placeholder 2">
            <a:extLst>
              <a:ext uri="{FF2B5EF4-FFF2-40B4-BE49-F238E27FC236}">
                <a16:creationId xmlns:a16="http://schemas.microsoft.com/office/drawing/2014/main" id="{9A27DC0E-A2EB-AAA5-26E5-80B2C604BDF2}"/>
              </a:ext>
            </a:extLst>
          </p:cNvPr>
          <p:cNvSpPr>
            <a:spLocks noGrp="1"/>
          </p:cNvSpPr>
          <p:nvPr>
            <p:ph idx="1"/>
          </p:nvPr>
        </p:nvSpPr>
        <p:spPr/>
        <p:txBody>
          <a:bodyPr/>
          <a:lstStyle/>
          <a:p>
            <a:r>
              <a:rPr lang="en-US" dirty="0"/>
              <a:t>Have you ever seen an image online?</a:t>
            </a:r>
          </a:p>
          <a:p>
            <a:r>
              <a:rPr lang="en-US" dirty="0"/>
              <a:t>Have you ever seen a video?</a:t>
            </a:r>
          </a:p>
          <a:p>
            <a:r>
              <a:rPr lang="en-US" dirty="0"/>
              <a:t>Other formats??</a:t>
            </a:r>
          </a:p>
          <a:p>
            <a:endParaRPr lang="en-US" dirty="0"/>
          </a:p>
        </p:txBody>
      </p:sp>
      <p:sp>
        <p:nvSpPr>
          <p:cNvPr id="4" name="Date Placeholder 3">
            <a:extLst>
              <a:ext uri="{FF2B5EF4-FFF2-40B4-BE49-F238E27FC236}">
                <a16:creationId xmlns:a16="http://schemas.microsoft.com/office/drawing/2014/main" id="{BA21DF7F-179D-93A4-A34C-19AFA15CC350}"/>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B3F49F5A-5999-7FEE-3F3E-C8FE162C0607}"/>
              </a:ext>
            </a:extLst>
          </p:cNvPr>
          <p:cNvSpPr>
            <a:spLocks noGrp="1"/>
          </p:cNvSpPr>
          <p:nvPr>
            <p:ph type="sldNum" sz="quarter" idx="11"/>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26227152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320-3E63-D43F-8353-454E919E51F8}"/>
              </a:ext>
            </a:extLst>
          </p:cNvPr>
          <p:cNvSpPr>
            <a:spLocks noGrp="1"/>
          </p:cNvSpPr>
          <p:nvPr>
            <p:ph type="title"/>
          </p:nvPr>
        </p:nvSpPr>
        <p:spPr/>
        <p:txBody>
          <a:bodyPr/>
          <a:lstStyle/>
          <a:p>
            <a:r>
              <a:rPr lang="en-US" dirty="0"/>
              <a:t>Encoding Text</a:t>
            </a:r>
          </a:p>
        </p:txBody>
      </p:sp>
      <p:sp>
        <p:nvSpPr>
          <p:cNvPr id="3" name="Content Placeholder 2">
            <a:extLst>
              <a:ext uri="{FF2B5EF4-FFF2-40B4-BE49-F238E27FC236}">
                <a16:creationId xmlns:a16="http://schemas.microsoft.com/office/drawing/2014/main" id="{AA901D3A-6F2F-A254-2420-040EC3411AEA}"/>
              </a:ext>
            </a:extLst>
          </p:cNvPr>
          <p:cNvSpPr>
            <a:spLocks noGrp="1"/>
          </p:cNvSpPr>
          <p:nvPr>
            <p:ph idx="1"/>
          </p:nvPr>
        </p:nvSpPr>
        <p:spPr/>
        <p:txBody>
          <a:bodyPr/>
          <a:lstStyle/>
          <a:p>
            <a:r>
              <a:rPr lang="en-US" dirty="0"/>
              <a:t>Remember all data is binary</a:t>
            </a:r>
          </a:p>
          <a:p>
            <a:r>
              <a:rPr lang="en-US" dirty="0"/>
              <a:t>Computer must represent data consistently</a:t>
            </a:r>
          </a:p>
          <a:p>
            <a:r>
              <a:rPr lang="en-US" dirty="0"/>
              <a:t>An encoding specifies the data representation</a:t>
            </a:r>
          </a:p>
          <a:p>
            <a:endParaRPr lang="en-US" dirty="0"/>
          </a:p>
          <a:p>
            <a:endParaRPr lang="en-US" dirty="0"/>
          </a:p>
        </p:txBody>
      </p:sp>
      <p:sp>
        <p:nvSpPr>
          <p:cNvPr id="4" name="Date Placeholder 3">
            <a:extLst>
              <a:ext uri="{FF2B5EF4-FFF2-40B4-BE49-F238E27FC236}">
                <a16:creationId xmlns:a16="http://schemas.microsoft.com/office/drawing/2014/main" id="{25A4AFED-28E0-462A-17C6-7EB8DBEC3ED1}"/>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C026297-B7AE-DE85-62A2-3FA449FB2059}"/>
              </a:ext>
            </a:extLst>
          </p:cNvPr>
          <p:cNvSpPr>
            <a:spLocks noGrp="1"/>
          </p:cNvSpPr>
          <p:nvPr>
            <p:ph type="sldNum" sz="quarter" idx="11"/>
          </p:nvPr>
        </p:nvSpPr>
        <p:spPr/>
        <p:txBody>
          <a:bodyPr/>
          <a:lstStyle/>
          <a:p>
            <a:fld id="{64E5BE4B-2FBF-4174-9E62-85FAD1CB43A6}" type="slidenum">
              <a:rPr lang="en-US" smtClean="0"/>
              <a:pPr/>
              <a:t>11</a:t>
            </a:fld>
            <a:endParaRPr lang="en-US"/>
          </a:p>
        </p:txBody>
      </p:sp>
      <p:graphicFrame>
        <p:nvGraphicFramePr>
          <p:cNvPr id="8" name="Table 7">
            <a:extLst>
              <a:ext uri="{FF2B5EF4-FFF2-40B4-BE49-F238E27FC236}">
                <a16:creationId xmlns:a16="http://schemas.microsoft.com/office/drawing/2014/main" id="{9B09FF67-D76C-EDEB-DEB6-C8DC018CC54B}"/>
              </a:ext>
            </a:extLst>
          </p:cNvPr>
          <p:cNvGraphicFramePr>
            <a:graphicFrameLocks noGrp="1"/>
          </p:cNvGraphicFramePr>
          <p:nvPr>
            <p:extLst>
              <p:ext uri="{D42A27DB-BD31-4B8C-83A1-F6EECF244321}">
                <p14:modId xmlns:p14="http://schemas.microsoft.com/office/powerpoint/2010/main" val="3374590313"/>
              </p:ext>
            </p:extLst>
          </p:nvPr>
        </p:nvGraphicFramePr>
        <p:xfrm>
          <a:off x="259508" y="3547989"/>
          <a:ext cx="11093448" cy="2270760"/>
        </p:xfrm>
        <a:graphic>
          <a:graphicData uri="http://schemas.openxmlformats.org/drawingml/2006/table">
            <a:tbl>
              <a:tblPr bandRow="1">
                <a:tableStyleId>{9D7B26C5-4107-4FEC-AEDC-1716B250A1EF}</a:tableStyleId>
              </a:tblPr>
              <a:tblGrid>
                <a:gridCol w="1663076">
                  <a:extLst>
                    <a:ext uri="{9D8B030D-6E8A-4147-A177-3AD203B41FA5}">
                      <a16:colId xmlns:a16="http://schemas.microsoft.com/office/drawing/2014/main" val="2605838210"/>
                    </a:ext>
                  </a:extLst>
                </a:gridCol>
                <a:gridCol w="3883648">
                  <a:extLst>
                    <a:ext uri="{9D8B030D-6E8A-4147-A177-3AD203B41FA5}">
                      <a16:colId xmlns:a16="http://schemas.microsoft.com/office/drawing/2014/main" val="1110831575"/>
                    </a:ext>
                  </a:extLst>
                </a:gridCol>
                <a:gridCol w="2773362">
                  <a:extLst>
                    <a:ext uri="{9D8B030D-6E8A-4147-A177-3AD203B41FA5}">
                      <a16:colId xmlns:a16="http://schemas.microsoft.com/office/drawing/2014/main" val="1054237498"/>
                    </a:ext>
                  </a:extLst>
                </a:gridCol>
                <a:gridCol w="2773362">
                  <a:extLst>
                    <a:ext uri="{9D8B030D-6E8A-4147-A177-3AD203B41FA5}">
                      <a16:colId xmlns:a16="http://schemas.microsoft.com/office/drawing/2014/main" val="2552619271"/>
                    </a:ext>
                  </a:extLst>
                </a:gridCol>
              </a:tblGrid>
              <a:tr h="350520">
                <a:tc>
                  <a:txBody>
                    <a:bodyPr/>
                    <a:lstStyle/>
                    <a:p>
                      <a:pPr algn="ctr">
                        <a:buNone/>
                      </a:pPr>
                      <a:r>
                        <a:rPr lang="en-US" sz="1700" b="1" dirty="0">
                          <a:effectLst/>
                        </a:rPr>
                        <a:t>Character</a:t>
                      </a:r>
                    </a:p>
                  </a:txBody>
                  <a:tcPr anchor="ctr"/>
                </a:tc>
                <a:tc>
                  <a:txBody>
                    <a:bodyPr/>
                    <a:lstStyle/>
                    <a:p>
                      <a:pPr algn="l">
                        <a:buNone/>
                      </a:pPr>
                      <a:r>
                        <a:rPr lang="en-US" sz="1700" b="1" dirty="0">
                          <a:effectLst/>
                        </a:rPr>
                        <a:t>UTF-8 (Binary)</a:t>
                      </a:r>
                    </a:p>
                  </a:txBody>
                  <a:tcPr anchor="ctr"/>
                </a:tc>
                <a:tc>
                  <a:txBody>
                    <a:bodyPr/>
                    <a:lstStyle/>
                    <a:p>
                      <a:pPr algn="l">
                        <a:buNone/>
                      </a:pPr>
                      <a:r>
                        <a:rPr lang="en-US" sz="1700" b="1" dirty="0">
                          <a:effectLst/>
                        </a:rPr>
                        <a:t>Windows-1252 (Binary)</a:t>
                      </a:r>
                    </a:p>
                  </a:txBody>
                  <a:tcPr anchor="ctr"/>
                </a:tc>
                <a:tc>
                  <a:txBody>
                    <a:bodyPr/>
                    <a:lstStyle/>
                    <a:p>
                      <a:pPr algn="l">
                        <a:buNone/>
                      </a:pPr>
                      <a:r>
                        <a:rPr lang="en-US" sz="1700" b="1" dirty="0">
                          <a:effectLst/>
                        </a:rPr>
                        <a:t>UTF-16LE (Binary)</a:t>
                      </a:r>
                    </a:p>
                  </a:txBody>
                  <a:tcPr anchor="ctr"/>
                </a:tc>
                <a:extLst>
                  <a:ext uri="{0D108BD9-81ED-4DB2-BD59-A6C34878D82A}">
                    <a16:rowId xmlns:a16="http://schemas.microsoft.com/office/drawing/2014/main" val="2801382232"/>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A</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01000001 00000000</a:t>
                      </a:r>
                    </a:p>
                  </a:txBody>
                  <a:tcPr anchor="ctr"/>
                </a:tc>
                <a:extLst>
                  <a:ext uri="{0D108BD9-81ED-4DB2-BD59-A6C34878D82A}">
                    <a16:rowId xmlns:a16="http://schemas.microsoft.com/office/drawing/2014/main" val="2255597038"/>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é</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11000011 10101001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00101001 00000110</a:t>
                      </a:r>
                    </a:p>
                  </a:txBody>
                  <a:tcPr anchor="ctr"/>
                </a:tc>
                <a:extLst>
                  <a:ext uri="{0D108BD9-81ED-4DB2-BD59-A6C34878D82A}">
                    <a16:rowId xmlns:a16="http://schemas.microsoft.com/office/drawing/2014/main" val="696482109"/>
                  </a:ext>
                </a:extLst>
              </a:tr>
              <a:tr h="609600">
                <a:tc>
                  <a:txBody>
                    <a:bodyPr/>
                    <a:lstStyle/>
                    <a:p>
                      <a:pPr algn="ctr">
                        <a:buNone/>
                      </a:pPr>
                      <a:r>
                        <a:rPr lang="en-US" sz="170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11100010 10000010 10101100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10000000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00001010 00100000</a:t>
                      </a:r>
                    </a:p>
                  </a:txBody>
                  <a:tcPr anchor="ctr"/>
                </a:tc>
                <a:extLst>
                  <a:ext uri="{0D108BD9-81ED-4DB2-BD59-A6C34878D82A}">
                    <a16:rowId xmlns:a16="http://schemas.microsoft.com/office/drawing/2014/main" val="222122572"/>
                  </a:ext>
                </a:extLst>
              </a:tr>
              <a:tr h="609600">
                <a:tc>
                  <a:txBody>
                    <a:bodyPr/>
                    <a:lstStyle/>
                    <a:p>
                      <a:pPr algn="ctr">
                        <a:buNone/>
                      </a:pPr>
                      <a:r>
                        <a:rPr lang="en-US" sz="1700" dirty="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11100010 10000000 10011100</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10010100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01000000 01001111</a:t>
                      </a:r>
                    </a:p>
                  </a:txBody>
                  <a:tcPr anchor="ctr"/>
                </a:tc>
                <a:extLst>
                  <a:ext uri="{0D108BD9-81ED-4DB2-BD59-A6C34878D82A}">
                    <a16:rowId xmlns:a16="http://schemas.microsoft.com/office/drawing/2014/main" val="2434604165"/>
                  </a:ext>
                </a:extLst>
              </a:tr>
            </a:tbl>
          </a:graphicData>
        </a:graphic>
      </p:graphicFrame>
    </p:spTree>
    <p:extLst>
      <p:ext uri="{BB962C8B-B14F-4D97-AF65-F5344CB8AC3E}">
        <p14:creationId xmlns:p14="http://schemas.microsoft.com/office/powerpoint/2010/main" val="413071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8CA-D795-8DD2-5A17-357D299D6CE4}"/>
              </a:ext>
            </a:extLst>
          </p:cNvPr>
          <p:cNvSpPr>
            <a:spLocks noGrp="1"/>
          </p:cNvSpPr>
          <p:nvPr>
            <p:ph type="title"/>
          </p:nvPr>
        </p:nvSpPr>
        <p:spPr/>
        <p:txBody>
          <a:bodyPr/>
          <a:lstStyle/>
          <a:p>
            <a:r>
              <a:rPr lang="en-US" dirty="0"/>
              <a:t>Base64 Encoding</a:t>
            </a:r>
          </a:p>
        </p:txBody>
      </p:sp>
      <p:sp>
        <p:nvSpPr>
          <p:cNvPr id="3" name="Content Placeholder 2">
            <a:extLst>
              <a:ext uri="{FF2B5EF4-FFF2-40B4-BE49-F238E27FC236}">
                <a16:creationId xmlns:a16="http://schemas.microsoft.com/office/drawing/2014/main" id="{4EFF6918-E014-7E4F-ADD7-66181B6A7BBC}"/>
              </a:ext>
            </a:extLst>
          </p:cNvPr>
          <p:cNvSpPr>
            <a:spLocks noGrp="1"/>
          </p:cNvSpPr>
          <p:nvPr>
            <p:ph idx="1"/>
          </p:nvPr>
        </p:nvSpPr>
        <p:spPr>
          <a:xfrm>
            <a:off x="548641" y="1600199"/>
            <a:ext cx="5679440" cy="4572000"/>
          </a:xfrm>
        </p:spPr>
        <p:txBody>
          <a:bodyPr/>
          <a:lstStyle/>
          <a:p>
            <a:r>
              <a:rPr lang="en-US" dirty="0"/>
              <a:t>Common HTTP encoding type</a:t>
            </a:r>
          </a:p>
          <a:p>
            <a:r>
              <a:rPr lang="en-US" dirty="0"/>
              <a:t>Converts every 6 bits into a character (2^6 options…)</a:t>
            </a:r>
          </a:p>
          <a:p>
            <a:pPr lvl="1"/>
            <a:r>
              <a:rPr lang="en-US" dirty="0"/>
              <a:t>A-Z</a:t>
            </a:r>
          </a:p>
          <a:p>
            <a:pPr lvl="1"/>
            <a:r>
              <a:rPr lang="en-US" dirty="0"/>
              <a:t>a-z</a:t>
            </a:r>
          </a:p>
          <a:p>
            <a:pPr lvl="1"/>
            <a:r>
              <a:rPr lang="en-US" dirty="0"/>
              <a:t>0-9</a:t>
            </a:r>
          </a:p>
          <a:p>
            <a:pPr lvl="1"/>
            <a:r>
              <a:rPr lang="en-US" dirty="0"/>
              <a:t>/+</a:t>
            </a:r>
          </a:p>
          <a:p>
            <a:r>
              <a:rPr lang="en-US" dirty="0"/>
              <a:t>Every 3 bytes </a:t>
            </a:r>
            <a:r>
              <a:rPr lang="en-US" dirty="0">
                <a:sym typeface="Wingdings" panose="05000000000000000000" pitchFamily="2" charset="2"/>
              </a:rPr>
              <a:t> 4 characters</a:t>
            </a:r>
            <a:endParaRPr lang="en-US" dirty="0"/>
          </a:p>
        </p:txBody>
      </p:sp>
      <p:sp>
        <p:nvSpPr>
          <p:cNvPr id="4" name="Date Placeholder 3">
            <a:extLst>
              <a:ext uri="{FF2B5EF4-FFF2-40B4-BE49-F238E27FC236}">
                <a16:creationId xmlns:a16="http://schemas.microsoft.com/office/drawing/2014/main" id="{5739DEC8-5A35-75D5-9638-F56804F12339}"/>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CE6EEC28-5E34-E95E-9F52-6396E99760B3}"/>
              </a:ext>
            </a:extLst>
          </p:cNvPr>
          <p:cNvSpPr>
            <a:spLocks noGrp="1"/>
          </p:cNvSpPr>
          <p:nvPr>
            <p:ph type="sldNum" sz="quarter" idx="11"/>
          </p:nvPr>
        </p:nvSpPr>
        <p:spPr/>
        <p:txBody>
          <a:bodyPr/>
          <a:lstStyle/>
          <a:p>
            <a:fld id="{64E5BE4B-2FBF-4174-9E62-85FAD1CB43A6}" type="slidenum">
              <a:rPr lang="en-US" smtClean="0"/>
              <a:pPr/>
              <a:t>12</a:t>
            </a:fld>
            <a:endParaRPr lang="en-US"/>
          </a:p>
        </p:txBody>
      </p:sp>
      <p:pic>
        <p:nvPicPr>
          <p:cNvPr id="7" name="Picture 6">
            <a:extLst>
              <a:ext uri="{FF2B5EF4-FFF2-40B4-BE49-F238E27FC236}">
                <a16:creationId xmlns:a16="http://schemas.microsoft.com/office/drawing/2014/main" id="{AEF19680-EFD5-86E3-BA8C-255B19E7592C}"/>
              </a:ext>
            </a:extLst>
          </p:cNvPr>
          <p:cNvPicPr>
            <a:picLocks noChangeAspect="1"/>
          </p:cNvPicPr>
          <p:nvPr/>
        </p:nvPicPr>
        <p:blipFill>
          <a:blip r:embed="rId3"/>
          <a:stretch>
            <a:fillRect/>
          </a:stretch>
        </p:blipFill>
        <p:spPr>
          <a:xfrm>
            <a:off x="6827520" y="1142997"/>
            <a:ext cx="5130994" cy="5571727"/>
          </a:xfrm>
          <a:prstGeom prst="rect">
            <a:avLst/>
          </a:prstGeom>
        </p:spPr>
      </p:pic>
    </p:spTree>
    <p:extLst>
      <p:ext uri="{BB962C8B-B14F-4D97-AF65-F5344CB8AC3E}">
        <p14:creationId xmlns:p14="http://schemas.microsoft.com/office/powerpoint/2010/main" val="31665577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FF68-343E-F5F9-5A0C-85A025592E37}"/>
              </a:ext>
            </a:extLst>
          </p:cNvPr>
          <p:cNvSpPr>
            <a:spLocks noGrp="1"/>
          </p:cNvSpPr>
          <p:nvPr>
            <p:ph type="title"/>
          </p:nvPr>
        </p:nvSpPr>
        <p:spPr/>
        <p:txBody>
          <a:bodyPr/>
          <a:lstStyle/>
          <a:p>
            <a:r>
              <a:rPr lang="en-US" dirty="0"/>
              <a:t>Python Base64</a:t>
            </a:r>
          </a:p>
        </p:txBody>
      </p:sp>
      <p:sp>
        <p:nvSpPr>
          <p:cNvPr id="3" name="Content Placeholder 2">
            <a:extLst>
              <a:ext uri="{FF2B5EF4-FFF2-40B4-BE49-F238E27FC236}">
                <a16:creationId xmlns:a16="http://schemas.microsoft.com/office/drawing/2014/main" id="{3F545E95-C6A3-0E44-4BBF-21D1BEBD1591}"/>
              </a:ext>
            </a:extLst>
          </p:cNvPr>
          <p:cNvSpPr>
            <a:spLocks noGrp="1"/>
          </p:cNvSpPr>
          <p:nvPr>
            <p:ph idx="1"/>
          </p:nvPr>
        </p:nvSpPr>
        <p:spPr/>
        <p:txBody>
          <a:bodyPr/>
          <a:lstStyle/>
          <a:p>
            <a:r>
              <a:rPr lang="en-US" dirty="0"/>
              <a:t>Demo converting an image and some text</a:t>
            </a:r>
          </a:p>
        </p:txBody>
      </p:sp>
      <p:sp>
        <p:nvSpPr>
          <p:cNvPr id="4" name="Date Placeholder 3">
            <a:extLst>
              <a:ext uri="{FF2B5EF4-FFF2-40B4-BE49-F238E27FC236}">
                <a16:creationId xmlns:a16="http://schemas.microsoft.com/office/drawing/2014/main" id="{E72DAAB4-2CBE-DFF4-64DD-920615A57A26}"/>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7C0D0253-A895-1EE1-2013-EFC76909B4BD}"/>
              </a:ext>
            </a:extLst>
          </p:cNvPr>
          <p:cNvSpPr>
            <a:spLocks noGrp="1"/>
          </p:cNvSpPr>
          <p:nvPr>
            <p:ph type="sldNum" sz="quarter" idx="11"/>
          </p:nvPr>
        </p:nvSpPr>
        <p:spPr/>
        <p:txBody>
          <a:bodyPr/>
          <a:lstStyle/>
          <a:p>
            <a:fld id="{64E5BE4B-2FBF-4174-9E62-85FAD1CB43A6}" type="slidenum">
              <a:rPr lang="en-US" smtClean="0"/>
              <a:pPr/>
              <a:t>13</a:t>
            </a:fld>
            <a:endParaRPr lang="en-US"/>
          </a:p>
        </p:txBody>
      </p:sp>
    </p:spTree>
    <p:extLst>
      <p:ext uri="{BB962C8B-B14F-4D97-AF65-F5344CB8AC3E}">
        <p14:creationId xmlns:p14="http://schemas.microsoft.com/office/powerpoint/2010/main" val="2626205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06434-F997-27C3-919F-CE7837F349C1}"/>
              </a:ext>
            </a:extLst>
          </p:cNvPr>
          <p:cNvSpPr>
            <a:spLocks noGrp="1"/>
          </p:cNvSpPr>
          <p:nvPr>
            <p:ph type="title"/>
          </p:nvPr>
        </p:nvSpPr>
        <p:spPr/>
        <p:txBody>
          <a:bodyPr/>
          <a:lstStyle/>
          <a:p>
            <a:r>
              <a:rPr lang="en-US" dirty="0"/>
              <a:t>Hands-On #1</a:t>
            </a:r>
          </a:p>
        </p:txBody>
      </p:sp>
      <p:sp>
        <p:nvSpPr>
          <p:cNvPr id="7" name="Text Placeholder 6">
            <a:extLst>
              <a:ext uri="{FF2B5EF4-FFF2-40B4-BE49-F238E27FC236}">
                <a16:creationId xmlns:a16="http://schemas.microsoft.com/office/drawing/2014/main" id="{BAC52DAE-CBD8-631B-0394-8D79FD504D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09924F4-6F02-D811-576D-4B2CB7D71CDF}"/>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CA5BB809-B6F6-9BC1-E54D-7C07B20D75D3}"/>
              </a:ext>
            </a:extLst>
          </p:cNvPr>
          <p:cNvSpPr>
            <a:spLocks noGrp="1"/>
          </p:cNvSpPr>
          <p:nvPr>
            <p:ph type="sldNum" sz="quarter" idx="12"/>
          </p:nvPr>
        </p:nvSpPr>
        <p:spPr/>
        <p:txBody>
          <a:bodyPr/>
          <a:lstStyle/>
          <a:p>
            <a:fld id="{64E5BE4B-2FBF-4174-9E62-85FAD1CB43A6}" type="slidenum">
              <a:rPr lang="en-US" smtClean="0"/>
              <a:pPr/>
              <a:t>14</a:t>
            </a:fld>
            <a:endParaRPr lang="en-US"/>
          </a:p>
        </p:txBody>
      </p:sp>
    </p:spTree>
    <p:extLst>
      <p:ext uri="{BB962C8B-B14F-4D97-AF65-F5344CB8AC3E}">
        <p14:creationId xmlns:p14="http://schemas.microsoft.com/office/powerpoint/2010/main" val="36743120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0031-D8A1-AFDB-9E76-43EE5E2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9A7FE-0FD6-1D55-7B5D-64F57EAE18A9}"/>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87B272D5-96CB-30F8-8E36-82AAEEAD08B1}"/>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An API is a set of rules and protocols </a:t>
            </a:r>
            <a:r>
              <a:rPr lang="en-US"/>
              <a:t>allowing communication.</a:t>
            </a:r>
            <a:endParaRPr lang="en-US" dirty="0"/>
          </a:p>
          <a:p>
            <a:endParaRPr lang="en-US" b="0" dirty="0"/>
          </a:p>
          <a:p>
            <a:r>
              <a:rPr lang="en-US" b="0" dirty="0"/>
              <a:t>Analogy:</a:t>
            </a:r>
          </a:p>
          <a:p>
            <a:pPr marL="342900" indent="-342900">
              <a:buFont typeface="Arial" panose="020B0604020202020204" pitchFamily="34" charset="0"/>
              <a:buChar char="•"/>
            </a:pPr>
            <a:r>
              <a:rPr lang="en-US" b="0" dirty="0"/>
              <a:t>You (</a:t>
            </a:r>
            <a:r>
              <a:rPr lang="en-US" dirty="0"/>
              <a:t>client</a:t>
            </a:r>
            <a:r>
              <a:rPr lang="en-US" b="0" dirty="0"/>
              <a:t>) are at a restaurant</a:t>
            </a:r>
          </a:p>
          <a:p>
            <a:pPr marL="342900" indent="-342900">
              <a:buFont typeface="Arial" panose="020B0604020202020204" pitchFamily="34" charset="0"/>
              <a:buChar char="•"/>
            </a:pPr>
            <a:r>
              <a:rPr lang="en-US" b="0" dirty="0"/>
              <a:t>The kitchen (</a:t>
            </a:r>
            <a:r>
              <a:rPr lang="en-US" dirty="0"/>
              <a:t>server/database</a:t>
            </a:r>
            <a:r>
              <a:rPr lang="en-US" b="0" dirty="0"/>
              <a:t>) preps the food</a:t>
            </a:r>
          </a:p>
          <a:p>
            <a:pPr marL="342900" indent="-342900">
              <a:buFont typeface="Arial" panose="020B0604020202020204" pitchFamily="34" charset="0"/>
              <a:buChar char="•"/>
            </a:pPr>
            <a:r>
              <a:rPr lang="en-US" b="0" dirty="0"/>
              <a:t>The waiter (</a:t>
            </a:r>
            <a:r>
              <a:rPr lang="en-US" dirty="0"/>
              <a:t>API</a:t>
            </a:r>
            <a:r>
              <a:rPr lang="en-US" b="0" dirty="0"/>
              <a:t>) takes your order, delivers it to the kitchen, and brings the food back to you.</a:t>
            </a:r>
          </a:p>
        </p:txBody>
      </p:sp>
    </p:spTree>
    <p:extLst>
      <p:ext uri="{BB962C8B-B14F-4D97-AF65-F5344CB8AC3E}">
        <p14:creationId xmlns:p14="http://schemas.microsoft.com/office/powerpoint/2010/main" val="29146513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5A8AC-8D90-4A86-685A-349D7203DB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6961A9-959A-F96E-EDFA-59FA637CE1B2}"/>
              </a:ext>
            </a:extLst>
          </p:cNvPr>
          <p:cNvSpPr>
            <a:spLocks noGrp="1"/>
          </p:cNvSpPr>
          <p:nvPr>
            <p:ph type="title"/>
          </p:nvPr>
        </p:nvSpPr>
        <p:spPr>
          <a:xfrm>
            <a:off x="839788" y="365126"/>
            <a:ext cx="10515600" cy="1231818"/>
          </a:xfrm>
        </p:spPr>
        <p:txBody>
          <a:bodyPr/>
          <a:lstStyle/>
          <a:p>
            <a:r>
              <a:rPr lang="en-US" dirty="0"/>
              <a:t>APPLICATION PROGRAMMING INTERFACE</a:t>
            </a:r>
            <a:br>
              <a:rPr lang="en-US" dirty="0"/>
            </a:br>
            <a:r>
              <a:rPr lang="en-US" dirty="0"/>
              <a:t>(API)</a:t>
            </a:r>
          </a:p>
        </p:txBody>
      </p:sp>
      <p:sp>
        <p:nvSpPr>
          <p:cNvPr id="13" name="Content Placeholder 2">
            <a:extLst>
              <a:ext uri="{FF2B5EF4-FFF2-40B4-BE49-F238E27FC236}">
                <a16:creationId xmlns:a16="http://schemas.microsoft.com/office/drawing/2014/main" id="{989B67D4-18D0-578D-6801-6B69F7A6551A}"/>
              </a:ext>
            </a:extLst>
          </p:cNvPr>
          <p:cNvSpPr txBox="1">
            <a:spLocks/>
          </p:cNvSpPr>
          <p:nvPr/>
        </p:nvSpPr>
        <p:spPr>
          <a:xfrm>
            <a:off x="548640" y="1600199"/>
            <a:ext cx="11024925" cy="4572000"/>
          </a:xfrm>
          <a:prstGeom prst="rect">
            <a:avLst/>
          </a:prstGeom>
        </p:spPr>
        <p:txBody>
          <a:bodyPr vert="horz" lIns="0" tIns="0" rIns="0" bIns="0" spcCol="365760" rtlCol="0" anchor="t">
            <a:noAutofit/>
          </a:bodyPr>
          <a:lstStyle>
            <a:lvl1pPr marL="0" indent="0" algn="l" defTabSz="914377" rtl="0" eaLnBrk="1" latinLnBrk="0" hangingPunct="1">
              <a:lnSpc>
                <a:spcPct val="95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377" rtl="0" eaLnBrk="1" latinLnBrk="0" hangingPunct="1">
              <a:lnSpc>
                <a:spcPct val="95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377" rtl="0" eaLnBrk="1" latinLnBrk="0" hangingPunct="1">
              <a:lnSpc>
                <a:spcPct val="95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377" rtl="0" eaLnBrk="1" latinLnBrk="0" hangingPunct="1">
              <a:lnSpc>
                <a:spcPct val="95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342900" indent="-342900">
              <a:buFont typeface="Arial" panose="020B0604020202020204" pitchFamily="34" charset="0"/>
              <a:buChar char="•"/>
            </a:pPr>
            <a:r>
              <a:rPr lang="en-US" dirty="0"/>
              <a:t>Efficiency</a:t>
            </a:r>
            <a:r>
              <a:rPr lang="en-US" b="0" dirty="0"/>
              <a:t>: Don’t reinvent the wheel.</a:t>
            </a:r>
          </a:p>
          <a:p>
            <a:pPr marL="342900" indent="-342900">
              <a:buFont typeface="Arial" panose="020B0604020202020204" pitchFamily="34" charset="0"/>
              <a:buChar char="•"/>
            </a:pPr>
            <a:r>
              <a:rPr lang="en-US" dirty="0"/>
              <a:t>Automation</a:t>
            </a:r>
            <a:r>
              <a:rPr lang="en-US" b="0" dirty="0"/>
              <a:t>: Eliminate manual data entry.</a:t>
            </a:r>
          </a:p>
          <a:p>
            <a:pPr marL="342900" indent="-342900">
              <a:buFont typeface="Arial" panose="020B0604020202020204" pitchFamily="34" charset="0"/>
              <a:buChar char="•"/>
            </a:pPr>
            <a:r>
              <a:rPr lang="en-US" dirty="0"/>
              <a:t>Security</a:t>
            </a:r>
            <a:r>
              <a:rPr lang="en-US" b="0" dirty="0"/>
              <a:t>: APIs only share the specific data requested.</a:t>
            </a:r>
          </a:p>
          <a:p>
            <a:pPr marL="342900" indent="-342900">
              <a:buFont typeface="Arial" panose="020B0604020202020204" pitchFamily="34" charset="0"/>
              <a:buChar char="•"/>
            </a:pPr>
            <a:r>
              <a:rPr lang="en-US" dirty="0"/>
              <a:t>Scalability</a:t>
            </a:r>
            <a:r>
              <a:rPr lang="en-US" b="0" dirty="0"/>
              <a:t>: Easy to connect new features, platforms, and services.</a:t>
            </a:r>
          </a:p>
        </p:txBody>
      </p:sp>
    </p:spTree>
    <p:extLst>
      <p:ext uri="{BB962C8B-B14F-4D97-AF65-F5344CB8AC3E}">
        <p14:creationId xmlns:p14="http://schemas.microsoft.com/office/powerpoint/2010/main" val="40875701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1546C-9845-93FB-6A72-A22BCC33C8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324EB-3EEB-6089-2596-7CB363CDCB01}"/>
              </a:ext>
            </a:extLst>
          </p:cNvPr>
          <p:cNvSpPr>
            <a:spLocks noGrp="1"/>
          </p:cNvSpPr>
          <p:nvPr>
            <p:ph type="title"/>
          </p:nvPr>
        </p:nvSpPr>
        <p:spPr>
          <a:xfrm>
            <a:off x="839788" y="365125"/>
            <a:ext cx="10515600" cy="1325563"/>
          </a:xfrm>
        </p:spPr>
        <p:txBody>
          <a:bodyPr/>
          <a:lstStyle/>
          <a:p>
            <a:r>
              <a:rPr lang="en-US" dirty="0"/>
              <a:t>API Terms</a:t>
            </a:r>
          </a:p>
        </p:txBody>
      </p:sp>
      <p:sp>
        <p:nvSpPr>
          <p:cNvPr id="5" name="Text Placeholder 4">
            <a:extLst>
              <a:ext uri="{FF2B5EF4-FFF2-40B4-BE49-F238E27FC236}">
                <a16:creationId xmlns:a16="http://schemas.microsoft.com/office/drawing/2014/main" id="{1F9E7410-8077-8A80-1D55-E3170972E84E}"/>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C6D2A7DC-D741-B968-D0E7-49E25B398C31}"/>
              </a:ext>
            </a:extLst>
          </p:cNvPr>
          <p:cNvSpPr>
            <a:spLocks noGrp="1"/>
          </p:cNvSpPr>
          <p:nvPr>
            <p:ph sz="half" idx="2"/>
          </p:nvPr>
        </p:nvSpPr>
        <p:spPr>
          <a:xfrm>
            <a:off x="839788" y="2505075"/>
            <a:ext cx="10512424" cy="3684588"/>
          </a:xfrm>
        </p:spPr>
        <p:txBody>
          <a:bodyPr>
            <a:normAutofit/>
          </a:bodyPr>
          <a:lstStyle/>
          <a:p>
            <a:pPr marL="0" indent="0">
              <a:buNone/>
            </a:pPr>
            <a:r>
              <a:rPr lang="en-US" dirty="0">
                <a:latin typeface="Courier New" panose="02070309020205020404" pitchFamily="49" charset="0"/>
                <a:cs typeface="Courier New" panose="02070309020205020404" pitchFamily="49" charset="0"/>
              </a:rPr>
              <a:t>GET /users/{user}/</a:t>
            </a:r>
            <a:r>
              <a:rPr lang="en-US" dirty="0" err="1">
                <a:latin typeface="Courier New" panose="02070309020205020404" pitchFamily="49" charset="0"/>
                <a:cs typeface="Courier New" panose="02070309020205020404" pitchFamily="49" charset="0"/>
              </a:rPr>
              <a:t>playlists?sort</a:t>
            </a:r>
            <a:r>
              <a:rPr lang="en-US" dirty="0">
                <a:latin typeface="Courier New" panose="02070309020205020404" pitchFamily="49" charset="0"/>
                <a:cs typeface="Courier New" panose="02070309020205020404" pitchFamily="49" charset="0"/>
              </a:rPr>
              <a:t>={direction} HTTP/1.1\r\n</a:t>
            </a:r>
          </a:p>
          <a:p>
            <a:pPr marL="0" indent="0">
              <a:buNone/>
            </a:pPr>
            <a:r>
              <a:rPr lang="en-US" dirty="0">
                <a:latin typeface="Courier New" panose="02070309020205020404" pitchFamily="49" charset="0"/>
                <a:cs typeface="Courier New" panose="02070309020205020404" pitchFamily="49" charset="0"/>
              </a:rPr>
              <a:t>Host: example.com\r\n</a:t>
            </a:r>
          </a:p>
          <a:p>
            <a:pPr marL="0" indent="0">
              <a:buNone/>
            </a:pPr>
            <a:r>
              <a:rPr lang="en-US" dirty="0">
                <a:latin typeface="Courier New" panose="02070309020205020404" pitchFamily="49" charset="0"/>
                <a:cs typeface="Courier New" panose="02070309020205020404" pitchFamily="49" charset="0"/>
              </a:rPr>
              <a:t>Authentication: "Bearer 1234deadb33f"</a:t>
            </a:r>
          </a:p>
          <a:p>
            <a:pPr marL="0" indent="0">
              <a:buNone/>
            </a:pPr>
            <a:r>
              <a:rPr lang="en-US" dirty="0">
                <a:latin typeface="Courier New" panose="02070309020205020404" pitchFamily="49" charset="0"/>
                <a:cs typeface="Courier New" panose="02070309020205020404" pitchFamily="49" charset="0"/>
              </a:rPr>
              <a:t>Accept: */*\r\n</a:t>
            </a:r>
          </a:p>
          <a:p>
            <a:pPr marL="0" indent="0">
              <a:buNone/>
            </a:pPr>
            <a:r>
              <a:rPr lang="en-US" dirty="0">
                <a:latin typeface="Courier New" panose="02070309020205020404" pitchFamily="49" charset="0"/>
                <a:cs typeface="Courier New" panose="02070309020205020404" pitchFamily="49" charset="0"/>
              </a:rPr>
              <a:t>\r\n</a:t>
            </a:r>
          </a:p>
          <a:p>
            <a:pPr marL="0" indent="0">
              <a:buNone/>
            </a:pPr>
            <a:r>
              <a:rPr lang="en-US" dirty="0">
                <a:latin typeface="Courier New" panose="02070309020205020404" pitchFamily="49" charset="0"/>
                <a:cs typeface="Courier New" panose="02070309020205020404" pitchFamily="49" charset="0"/>
              </a:rPr>
              <a:t>{"genre": "rock"}\r\n</a:t>
            </a:r>
          </a:p>
        </p:txBody>
      </p:sp>
      <p:sp>
        <p:nvSpPr>
          <p:cNvPr id="9" name="Rectangle 8">
            <a:extLst>
              <a:ext uri="{FF2B5EF4-FFF2-40B4-BE49-F238E27FC236}">
                <a16:creationId xmlns:a16="http://schemas.microsoft.com/office/drawing/2014/main" id="{04E78EA0-AA15-0752-17CA-3A1B3DABD959}"/>
              </a:ext>
            </a:extLst>
          </p:cNvPr>
          <p:cNvSpPr/>
          <p:nvPr/>
        </p:nvSpPr>
        <p:spPr>
          <a:xfrm>
            <a:off x="1579853" y="2463419"/>
            <a:ext cx="416985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50E4215-CC83-8F02-88FE-59C885E8D216}"/>
              </a:ext>
            </a:extLst>
          </p:cNvPr>
          <p:cNvSpPr txBox="1"/>
          <p:nvPr/>
        </p:nvSpPr>
        <p:spPr>
          <a:xfrm>
            <a:off x="5997575" y="266440"/>
            <a:ext cx="3734382" cy="1384995"/>
          </a:xfrm>
          <a:prstGeom prst="rect">
            <a:avLst/>
          </a:prstGeom>
          <a:noFill/>
        </p:spPr>
        <p:txBody>
          <a:bodyPr wrap="square" rtlCol="0">
            <a:spAutoFit/>
          </a:bodyPr>
          <a:lstStyle/>
          <a:p>
            <a:r>
              <a:rPr lang="en-US" sz="2800" dirty="0">
                <a:solidFill>
                  <a:schemeClr val="accent2"/>
                </a:solidFill>
              </a:rPr>
              <a:t>Path</a:t>
            </a:r>
          </a:p>
          <a:p>
            <a:r>
              <a:rPr lang="en-US" sz="2800" dirty="0">
                <a:solidFill>
                  <a:schemeClr val="accent4"/>
                </a:solidFill>
              </a:rPr>
              <a:t>Query String</a:t>
            </a:r>
          </a:p>
          <a:p>
            <a:r>
              <a:rPr lang="en-US" sz="2800" dirty="0">
                <a:solidFill>
                  <a:schemeClr val="accent6"/>
                </a:solidFill>
              </a:rPr>
              <a:t>Body</a:t>
            </a:r>
          </a:p>
        </p:txBody>
      </p:sp>
      <p:sp>
        <p:nvSpPr>
          <p:cNvPr id="12" name="Rectangle 11">
            <a:extLst>
              <a:ext uri="{FF2B5EF4-FFF2-40B4-BE49-F238E27FC236}">
                <a16:creationId xmlns:a16="http://schemas.microsoft.com/office/drawing/2014/main" id="{0C78B5A9-E084-5B63-52D0-56E339CF3E08}"/>
              </a:ext>
            </a:extLst>
          </p:cNvPr>
          <p:cNvSpPr/>
          <p:nvPr/>
        </p:nvSpPr>
        <p:spPr>
          <a:xfrm>
            <a:off x="5946336" y="2463420"/>
            <a:ext cx="2920426" cy="451786"/>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C8483AE-D765-0E14-0D18-C18E8523BF90}"/>
              </a:ext>
            </a:extLst>
          </p:cNvPr>
          <p:cNvSpPr/>
          <p:nvPr/>
        </p:nvSpPr>
        <p:spPr>
          <a:xfrm>
            <a:off x="799843" y="4812520"/>
            <a:ext cx="3149790"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53809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6578-1CC0-B5DF-151B-592305F58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60273-FE3B-1138-04F9-B3122CECEC99}"/>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201CFD5C-421C-65DD-83BA-CA41D7ED8DA8}"/>
              </a:ext>
            </a:extLst>
          </p:cNvPr>
          <p:cNvSpPr>
            <a:spLocks noGrp="1"/>
          </p:cNvSpPr>
          <p:nvPr>
            <p:ph idx="1"/>
          </p:nvPr>
        </p:nvSpPr>
        <p:spPr/>
        <p:txBody>
          <a:bodyPr/>
          <a:lstStyle/>
          <a:p>
            <a:r>
              <a:rPr lang="en-US" sz="3600" dirty="0">
                <a:hlinkClick r:id="rId2"/>
              </a:rPr>
              <a:t>PayPal</a:t>
            </a:r>
            <a:r>
              <a:rPr lang="en-US" sz="3600" dirty="0"/>
              <a:t> </a:t>
            </a:r>
          </a:p>
        </p:txBody>
      </p:sp>
      <p:sp>
        <p:nvSpPr>
          <p:cNvPr id="4" name="Date Placeholder 3">
            <a:extLst>
              <a:ext uri="{FF2B5EF4-FFF2-40B4-BE49-F238E27FC236}">
                <a16:creationId xmlns:a16="http://schemas.microsoft.com/office/drawing/2014/main" id="{F28F99AA-E72F-EC8E-8676-7CDBDE97CBD8}"/>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A9E51041-96C6-2AEF-A8DF-D0613E8714B7}"/>
              </a:ext>
            </a:extLst>
          </p:cNvPr>
          <p:cNvSpPr>
            <a:spLocks noGrp="1"/>
          </p:cNvSpPr>
          <p:nvPr>
            <p:ph type="sldNum" sz="quarter" idx="11"/>
          </p:nvPr>
        </p:nvSpPr>
        <p:spPr/>
        <p:txBody>
          <a:bodyPr/>
          <a:lstStyle/>
          <a:p>
            <a:fld id="{64E5BE4B-2FBF-4174-9E62-85FAD1CB43A6}" type="slidenum">
              <a:rPr lang="en-US" smtClean="0"/>
              <a:pPr/>
              <a:t>18</a:t>
            </a:fld>
            <a:endParaRPr lang="en-US"/>
          </a:p>
        </p:txBody>
      </p:sp>
    </p:spTree>
    <p:extLst>
      <p:ext uri="{BB962C8B-B14F-4D97-AF65-F5344CB8AC3E}">
        <p14:creationId xmlns:p14="http://schemas.microsoft.com/office/powerpoint/2010/main" val="2045984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909E-0777-2269-30A3-E18FCC6D72AD}"/>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0621767E-A648-7020-1001-2A53FE820F74}"/>
              </a:ext>
            </a:extLst>
          </p:cNvPr>
          <p:cNvSpPr>
            <a:spLocks noGrp="1"/>
          </p:cNvSpPr>
          <p:nvPr>
            <p:ph idx="1"/>
          </p:nvPr>
        </p:nvSpPr>
        <p:spPr/>
        <p:txBody>
          <a:bodyPr/>
          <a:lstStyle/>
          <a:p>
            <a:r>
              <a:rPr lang="en-US" dirty="0"/>
              <a:t>In groups:</a:t>
            </a:r>
          </a:p>
          <a:p>
            <a:pPr lvl="1"/>
            <a:r>
              <a:rPr lang="en-US" dirty="0"/>
              <a:t>Compare two commits in GitHub</a:t>
            </a:r>
          </a:p>
          <a:p>
            <a:pPr lvl="1"/>
            <a:r>
              <a:rPr lang="en-US" dirty="0"/>
              <a:t>Plan a route using Google Maps</a:t>
            </a:r>
          </a:p>
          <a:p>
            <a:pPr lvl="1"/>
            <a:r>
              <a:rPr lang="en-US" dirty="0"/>
              <a:t>See my abandoned carts in Shopify</a:t>
            </a:r>
          </a:p>
          <a:p>
            <a:pPr lvl="1"/>
            <a:r>
              <a:rPr lang="en-US" dirty="0"/>
              <a:t>Create a new Spotify playlist</a:t>
            </a:r>
          </a:p>
          <a:p>
            <a:endParaRPr lang="en-US" dirty="0"/>
          </a:p>
          <a:p>
            <a:r>
              <a:rPr lang="en-US" dirty="0"/>
              <a:t>Per task, identify the following:</a:t>
            </a:r>
          </a:p>
          <a:p>
            <a:pPr lvl="1"/>
            <a:r>
              <a:rPr lang="en-US" dirty="0"/>
              <a:t>Endpoint, e.g. </a:t>
            </a:r>
            <a:r>
              <a:rPr lang="en-US" dirty="0">
                <a:hlinkClick r:id="rId2"/>
              </a:rPr>
              <a:t>https://api.github.com/repos/{owner}/{repo}/commits</a:t>
            </a:r>
            <a:endParaRPr lang="en-US" dirty="0"/>
          </a:p>
          <a:p>
            <a:pPr lvl="1"/>
            <a:r>
              <a:rPr lang="en-US" dirty="0"/>
              <a:t>Required parameters (path, body, or query string?)</a:t>
            </a:r>
          </a:p>
          <a:p>
            <a:pPr lvl="1"/>
            <a:r>
              <a:rPr lang="en-US" dirty="0"/>
              <a:t>Optional parameters (path, body, or query string?)</a:t>
            </a:r>
          </a:p>
          <a:p>
            <a:pPr lvl="1"/>
            <a:r>
              <a:rPr lang="en-US" dirty="0"/>
              <a:t>How do they handle multiple responses (e.g. 1000 commits)?</a:t>
            </a:r>
          </a:p>
          <a:p>
            <a:pPr lvl="1"/>
            <a:endParaRPr lang="en-US" dirty="0"/>
          </a:p>
        </p:txBody>
      </p:sp>
      <p:sp>
        <p:nvSpPr>
          <p:cNvPr id="4" name="Date Placeholder 3">
            <a:extLst>
              <a:ext uri="{FF2B5EF4-FFF2-40B4-BE49-F238E27FC236}">
                <a16:creationId xmlns:a16="http://schemas.microsoft.com/office/drawing/2014/main" id="{1F009396-804B-8C57-3DD3-80E2F254CC02}"/>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F35BF542-8CEA-C17D-1DC5-D67DFFAD4C67}"/>
              </a:ext>
            </a:extLst>
          </p:cNvPr>
          <p:cNvSpPr>
            <a:spLocks noGrp="1"/>
          </p:cNvSpPr>
          <p:nvPr>
            <p:ph type="sldNum" sz="quarter" idx="11"/>
          </p:nvPr>
        </p:nvSpPr>
        <p:spPr/>
        <p:txBody>
          <a:bodyPr/>
          <a:lstStyle/>
          <a:p>
            <a:fld id="{64E5BE4B-2FBF-4174-9E62-85FAD1CB43A6}" type="slidenum">
              <a:rPr lang="en-US" smtClean="0"/>
              <a:pPr/>
              <a:t>19</a:t>
            </a:fld>
            <a:endParaRPr lang="en-US"/>
          </a:p>
        </p:txBody>
      </p:sp>
    </p:spTree>
    <p:extLst>
      <p:ext uri="{BB962C8B-B14F-4D97-AF65-F5344CB8AC3E}">
        <p14:creationId xmlns:p14="http://schemas.microsoft.com/office/powerpoint/2010/main" val="246403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3039-C858-2C3F-18AB-3CC2B675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3A3F6-B67E-54C5-6D85-E9992D53577A}"/>
              </a:ext>
            </a:extLst>
          </p:cNvPr>
          <p:cNvSpPr>
            <a:spLocks noGrp="1"/>
          </p:cNvSpPr>
          <p:nvPr>
            <p:ph type="title"/>
          </p:nvPr>
        </p:nvSpPr>
        <p:spPr>
          <a:xfrm>
            <a:off x="548640" y="411481"/>
            <a:ext cx="8231293" cy="914400"/>
          </a:xfrm>
        </p:spPr>
        <p:txBody>
          <a:bodyPr/>
          <a:lstStyle/>
          <a:p>
            <a:r>
              <a:rPr lang="en-US" dirty="0"/>
              <a:t>Authentication</a:t>
            </a:r>
          </a:p>
        </p:txBody>
      </p:sp>
      <p:sp>
        <p:nvSpPr>
          <p:cNvPr id="3" name="Content Placeholder 2">
            <a:extLst>
              <a:ext uri="{FF2B5EF4-FFF2-40B4-BE49-F238E27FC236}">
                <a16:creationId xmlns:a16="http://schemas.microsoft.com/office/drawing/2014/main" id="{98819479-A671-7093-4EDE-E094D956DBB4}"/>
              </a:ext>
            </a:extLst>
          </p:cNvPr>
          <p:cNvSpPr>
            <a:spLocks noGrp="1"/>
          </p:cNvSpPr>
          <p:nvPr>
            <p:ph idx="1"/>
          </p:nvPr>
        </p:nvSpPr>
        <p:spPr>
          <a:xfrm>
            <a:off x="548640" y="1600199"/>
            <a:ext cx="11024925" cy="4572000"/>
          </a:xfrm>
        </p:spPr>
        <p:txBody>
          <a:bodyPr/>
          <a:lstStyle/>
          <a:p>
            <a:r>
              <a:rPr lang="en-US" dirty="0"/>
              <a:t>Authorization vs Authentication?</a:t>
            </a:r>
          </a:p>
          <a:p>
            <a:r>
              <a:rPr lang="en-US" dirty="0"/>
              <a:t>How does a stateless protocol handle authentication?</a:t>
            </a:r>
          </a:p>
        </p:txBody>
      </p:sp>
    </p:spTree>
    <p:extLst>
      <p:ext uri="{BB962C8B-B14F-4D97-AF65-F5344CB8AC3E}">
        <p14:creationId xmlns:p14="http://schemas.microsoft.com/office/powerpoint/2010/main" val="4145989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91C8-6A58-E40E-FED1-94B89E967D7A}"/>
              </a:ext>
            </a:extLst>
          </p:cNvPr>
          <p:cNvSpPr>
            <a:spLocks noGrp="1"/>
          </p:cNvSpPr>
          <p:nvPr>
            <p:ph type="title"/>
          </p:nvPr>
        </p:nvSpPr>
        <p:spPr/>
        <p:txBody>
          <a:bodyPr/>
          <a:lstStyle/>
          <a:p>
            <a:r>
              <a:rPr lang="en-US" dirty="0"/>
              <a:t>Basic Authentication</a:t>
            </a:r>
          </a:p>
        </p:txBody>
      </p:sp>
      <p:sp>
        <p:nvSpPr>
          <p:cNvPr id="4" name="Date Placeholder 3">
            <a:extLst>
              <a:ext uri="{FF2B5EF4-FFF2-40B4-BE49-F238E27FC236}">
                <a16:creationId xmlns:a16="http://schemas.microsoft.com/office/drawing/2014/main" id="{1AF0D519-2DAF-50D0-D67D-A7339A2417E3}"/>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1E82177-F9BA-551A-7FD4-EE526677556D}"/>
              </a:ext>
            </a:extLst>
          </p:cNvPr>
          <p:cNvSpPr>
            <a:spLocks noGrp="1"/>
          </p:cNvSpPr>
          <p:nvPr>
            <p:ph type="sldNum" sz="quarter" idx="11"/>
          </p:nvPr>
        </p:nvSpPr>
        <p:spPr/>
        <p:txBody>
          <a:bodyPr/>
          <a:lstStyle/>
          <a:p>
            <a:fld id="{64E5BE4B-2FBF-4174-9E62-85FAD1CB43A6}" type="slidenum">
              <a:rPr lang="en-US" smtClean="0"/>
              <a:pPr/>
              <a:t>21</a:t>
            </a:fld>
            <a:endParaRPr lang="en-US"/>
          </a:p>
        </p:txBody>
      </p:sp>
      <p:pic>
        <p:nvPicPr>
          <p:cNvPr id="9" name="Content Placeholder 8" descr="Basic Authentication in ASP.NET Web API | Microsoft Learn">
            <a:extLst>
              <a:ext uri="{FF2B5EF4-FFF2-40B4-BE49-F238E27FC236}">
                <a16:creationId xmlns:a16="http://schemas.microsoft.com/office/drawing/2014/main" id="{60AF7BFE-693A-B09F-DAAF-A592C0D5C41E}"/>
              </a:ext>
            </a:extLst>
          </p:cNvPr>
          <p:cNvPicPr>
            <a:picLocks noGrp="1" noChangeAspect="1"/>
          </p:cNvPicPr>
          <p:nvPr>
            <p:ph idx="1"/>
          </p:nvPr>
        </p:nvPicPr>
        <p:blipFill>
          <a:blip r:embed="rId3"/>
          <a:stretch>
            <a:fillRect/>
          </a:stretch>
        </p:blipFill>
        <p:spPr>
          <a:xfrm>
            <a:off x="2491874" y="1267797"/>
            <a:ext cx="7208252" cy="3117493"/>
          </a:xfrm>
          <a:prstGeom prst="rect">
            <a:avLst/>
          </a:prstGeom>
        </p:spPr>
      </p:pic>
      <p:sp>
        <p:nvSpPr>
          <p:cNvPr id="10" name="TextBox 9">
            <a:extLst>
              <a:ext uri="{FF2B5EF4-FFF2-40B4-BE49-F238E27FC236}">
                <a16:creationId xmlns:a16="http://schemas.microsoft.com/office/drawing/2014/main" id="{276CF770-DEF0-59F3-36A0-2AA911530487}"/>
              </a:ext>
            </a:extLst>
          </p:cNvPr>
          <p:cNvSpPr txBox="1"/>
          <p:nvPr/>
        </p:nvSpPr>
        <p:spPr>
          <a:xfrm>
            <a:off x="1666028"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err="1">
                <a:latin typeface="Courier New" panose="02070309020205020404" pitchFamily="49" charset="0"/>
                <a:cs typeface="Courier New" panose="02070309020205020404" pitchFamily="49" charset="0"/>
              </a:rPr>
              <a:t>username:password</a:t>
            </a:r>
            <a:endParaRPr lang="en-US" sz="1700" dirty="0">
              <a:latin typeface="Courier New" panose="02070309020205020404" pitchFamily="49" charset="0"/>
              <a:cs typeface="Courier New" panose="02070309020205020404" pitchFamily="49" charset="0"/>
            </a:endParaRPr>
          </a:p>
        </p:txBody>
      </p:sp>
      <p:cxnSp>
        <p:nvCxnSpPr>
          <p:cNvPr id="12" name="Straight Arrow Connector 11">
            <a:extLst>
              <a:ext uri="{FF2B5EF4-FFF2-40B4-BE49-F238E27FC236}">
                <a16:creationId xmlns:a16="http://schemas.microsoft.com/office/drawing/2014/main" id="{4C1A1A80-326A-D2C9-5E42-B9E51223CFEA}"/>
              </a:ext>
            </a:extLst>
          </p:cNvPr>
          <p:cNvCxnSpPr/>
          <p:nvPr/>
        </p:nvCxnSpPr>
        <p:spPr>
          <a:xfrm>
            <a:off x="4064532" y="5337990"/>
            <a:ext cx="612792" cy="0"/>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
        <p:nvSpPr>
          <p:cNvPr id="13" name="TextBox 12">
            <a:extLst>
              <a:ext uri="{FF2B5EF4-FFF2-40B4-BE49-F238E27FC236}">
                <a16:creationId xmlns:a16="http://schemas.microsoft.com/office/drawing/2014/main" id="{6A3171B8-B539-34F4-75C7-BC0670B088D4}"/>
              </a:ext>
            </a:extLst>
          </p:cNvPr>
          <p:cNvSpPr txBox="1"/>
          <p:nvPr/>
        </p:nvSpPr>
        <p:spPr>
          <a:xfrm>
            <a:off x="4772275"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a:latin typeface="Courier New" panose="02070309020205020404" pitchFamily="49" charset="0"/>
                <a:cs typeface="Courier New" panose="02070309020205020404" pitchFamily="49" charset="0"/>
              </a:rPr>
              <a:t>Base64 encoded</a:t>
            </a:r>
          </a:p>
        </p:txBody>
      </p:sp>
      <p:cxnSp>
        <p:nvCxnSpPr>
          <p:cNvPr id="14" name="Straight Arrow Connector 13">
            <a:extLst>
              <a:ext uri="{FF2B5EF4-FFF2-40B4-BE49-F238E27FC236}">
                <a16:creationId xmlns:a16="http://schemas.microsoft.com/office/drawing/2014/main" id="{8A183196-FCA7-75BC-CBE3-0253E633D2D3}"/>
              </a:ext>
            </a:extLst>
          </p:cNvPr>
          <p:cNvCxnSpPr>
            <a:cxnSpLocks/>
          </p:cNvCxnSpPr>
          <p:nvPr/>
        </p:nvCxnSpPr>
        <p:spPr>
          <a:xfrm flipV="1">
            <a:off x="6754273" y="3992720"/>
            <a:ext cx="153995" cy="1339685"/>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0474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1446-ADB3-2F38-B72B-4030E81056C2}"/>
              </a:ext>
            </a:extLst>
          </p:cNvPr>
          <p:cNvSpPr>
            <a:spLocks noGrp="1"/>
          </p:cNvSpPr>
          <p:nvPr>
            <p:ph type="title"/>
          </p:nvPr>
        </p:nvSpPr>
        <p:spPr/>
        <p:txBody>
          <a:bodyPr/>
          <a:lstStyle/>
          <a:p>
            <a:r>
              <a:rPr lang="en-US" dirty="0"/>
              <a:t>Key/Token Authentication</a:t>
            </a:r>
          </a:p>
        </p:txBody>
      </p:sp>
      <p:pic>
        <p:nvPicPr>
          <p:cNvPr id="6" name="Content Placeholder 5" descr="https://storage.googleapis.com/gweb-cloudblog-publish/images/2_REST_API_authentication.max-600x600.jpg">
            <a:extLst>
              <a:ext uri="{FF2B5EF4-FFF2-40B4-BE49-F238E27FC236}">
                <a16:creationId xmlns:a16="http://schemas.microsoft.com/office/drawing/2014/main" id="{F7E46912-BD70-B243-81D7-FBBB4A84C52A}"/>
              </a:ext>
            </a:extLst>
          </p:cNvPr>
          <p:cNvPicPr>
            <a:picLocks noGrp="1" noChangeAspect="1"/>
          </p:cNvPicPr>
          <p:nvPr>
            <p:ph idx="1"/>
          </p:nvPr>
        </p:nvPicPr>
        <p:blipFill>
          <a:blip r:embed="rId3"/>
          <a:srcRect t="17639"/>
          <a:stretch>
            <a:fillRect/>
          </a:stretch>
        </p:blipFill>
        <p:spPr>
          <a:xfrm>
            <a:off x="1789355" y="1505475"/>
            <a:ext cx="8910239" cy="4354235"/>
          </a:xfrm>
          <a:prstGeom prst="rect">
            <a:avLst/>
          </a:prstGeom>
        </p:spPr>
      </p:pic>
      <p:sp>
        <p:nvSpPr>
          <p:cNvPr id="4" name="Date Placeholder 3">
            <a:extLst>
              <a:ext uri="{FF2B5EF4-FFF2-40B4-BE49-F238E27FC236}">
                <a16:creationId xmlns:a16="http://schemas.microsoft.com/office/drawing/2014/main" id="{BDE9BF91-2812-2A4F-A013-2930309161C1}"/>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1DA38EAD-0C32-AB1B-3764-BBA95303CBC4}"/>
              </a:ext>
            </a:extLst>
          </p:cNvPr>
          <p:cNvSpPr>
            <a:spLocks noGrp="1"/>
          </p:cNvSpPr>
          <p:nvPr>
            <p:ph type="sldNum" sz="quarter" idx="11"/>
          </p:nvPr>
        </p:nvSpPr>
        <p:spPr/>
        <p:txBody>
          <a:bodyPr/>
          <a:lstStyle/>
          <a:p>
            <a:fld id="{64E5BE4B-2FBF-4174-9E62-85FAD1CB43A6}" type="slidenum">
              <a:rPr lang="en-US" smtClean="0"/>
              <a:pPr/>
              <a:t>22</a:t>
            </a:fld>
            <a:endParaRPr lang="en-US"/>
          </a:p>
        </p:txBody>
      </p:sp>
    </p:spTree>
    <p:extLst>
      <p:ext uri="{BB962C8B-B14F-4D97-AF65-F5344CB8AC3E}">
        <p14:creationId xmlns:p14="http://schemas.microsoft.com/office/powerpoint/2010/main" val="3062422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99FD1-804C-6A0E-D8D3-593A8FFE3A2D}"/>
              </a:ext>
            </a:extLst>
          </p:cNvPr>
          <p:cNvSpPr>
            <a:spLocks noGrp="1"/>
          </p:cNvSpPr>
          <p:nvPr>
            <p:ph type="title"/>
          </p:nvPr>
        </p:nvSpPr>
        <p:spPr/>
        <p:txBody>
          <a:bodyPr/>
          <a:lstStyle/>
          <a:p>
            <a:r>
              <a:rPr lang="en-US" dirty="0"/>
              <a:t>Session Cookies</a:t>
            </a:r>
          </a:p>
        </p:txBody>
      </p:sp>
      <p:pic>
        <p:nvPicPr>
          <p:cNvPr id="6" name="Content Placeholder 5" descr="Mastering Modern Authentication: Cookies, Sessions, JWT, and PASETO">
            <a:extLst>
              <a:ext uri="{FF2B5EF4-FFF2-40B4-BE49-F238E27FC236}">
                <a16:creationId xmlns:a16="http://schemas.microsoft.com/office/drawing/2014/main" id="{D1F12538-1EA7-C8BA-73C7-008D873697AC}"/>
              </a:ext>
            </a:extLst>
          </p:cNvPr>
          <p:cNvPicPr>
            <a:picLocks noGrp="1" noChangeAspect="1"/>
          </p:cNvPicPr>
          <p:nvPr>
            <p:ph idx="1"/>
          </p:nvPr>
        </p:nvPicPr>
        <p:blipFill>
          <a:blip r:embed="rId3"/>
          <a:stretch>
            <a:fillRect/>
          </a:stretch>
        </p:blipFill>
        <p:spPr>
          <a:xfrm>
            <a:off x="2337265" y="1379150"/>
            <a:ext cx="7358720" cy="4828190"/>
          </a:xfrm>
          <a:prstGeom prst="rect">
            <a:avLst/>
          </a:prstGeom>
        </p:spPr>
      </p:pic>
      <p:sp>
        <p:nvSpPr>
          <p:cNvPr id="4" name="Date Placeholder 3">
            <a:extLst>
              <a:ext uri="{FF2B5EF4-FFF2-40B4-BE49-F238E27FC236}">
                <a16:creationId xmlns:a16="http://schemas.microsoft.com/office/drawing/2014/main" id="{3C69615D-C4A4-B60F-7BC5-2C56EA3DF0DF}"/>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87FD5202-6560-6919-5B0C-2C5C7D002792}"/>
              </a:ext>
            </a:extLst>
          </p:cNvPr>
          <p:cNvSpPr>
            <a:spLocks noGrp="1"/>
          </p:cNvSpPr>
          <p:nvPr>
            <p:ph type="sldNum" sz="quarter" idx="11"/>
          </p:nvPr>
        </p:nvSpPr>
        <p:spPr/>
        <p:txBody>
          <a:bodyPr/>
          <a:lstStyle/>
          <a:p>
            <a:fld id="{64E5BE4B-2FBF-4174-9E62-85FAD1CB43A6}" type="slidenum">
              <a:rPr lang="en-US" smtClean="0"/>
              <a:pPr/>
              <a:t>23</a:t>
            </a:fld>
            <a:endParaRPr lang="en-US"/>
          </a:p>
        </p:txBody>
      </p:sp>
    </p:spTree>
    <p:extLst>
      <p:ext uri="{BB962C8B-B14F-4D97-AF65-F5344CB8AC3E}">
        <p14:creationId xmlns:p14="http://schemas.microsoft.com/office/powerpoint/2010/main" val="1365411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1E55-6DB6-9C27-E006-65A7F8B45FD1}"/>
              </a:ext>
            </a:extLst>
          </p:cNvPr>
          <p:cNvSpPr>
            <a:spLocks noGrp="1"/>
          </p:cNvSpPr>
          <p:nvPr>
            <p:ph type="title"/>
          </p:nvPr>
        </p:nvSpPr>
        <p:spPr/>
        <p:txBody>
          <a:bodyPr/>
          <a:lstStyle/>
          <a:p>
            <a:r>
              <a:rPr lang="en-US" dirty="0"/>
              <a:t>OAUTH</a:t>
            </a:r>
          </a:p>
        </p:txBody>
      </p:sp>
      <p:sp>
        <p:nvSpPr>
          <p:cNvPr id="4" name="Date Placeholder 3">
            <a:extLst>
              <a:ext uri="{FF2B5EF4-FFF2-40B4-BE49-F238E27FC236}">
                <a16:creationId xmlns:a16="http://schemas.microsoft.com/office/drawing/2014/main" id="{6D422CD3-B82C-4C99-18CA-0A04C99FAB2C}"/>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55EC3B39-E1C7-7D98-4286-8457DBC26678}"/>
              </a:ext>
            </a:extLst>
          </p:cNvPr>
          <p:cNvSpPr>
            <a:spLocks noGrp="1"/>
          </p:cNvSpPr>
          <p:nvPr>
            <p:ph type="sldNum" sz="quarter" idx="11"/>
          </p:nvPr>
        </p:nvSpPr>
        <p:spPr/>
        <p:txBody>
          <a:bodyPr/>
          <a:lstStyle/>
          <a:p>
            <a:fld id="{64E5BE4B-2FBF-4174-9E62-85FAD1CB43A6}" type="slidenum">
              <a:rPr lang="en-US" smtClean="0"/>
              <a:pPr/>
              <a:t>24</a:t>
            </a:fld>
            <a:endParaRPr lang="en-US"/>
          </a:p>
        </p:txBody>
      </p:sp>
      <p:pic>
        <p:nvPicPr>
          <p:cNvPr id="9" name="Content Placeholder 8" descr="A .NET Developer's Complete Guide to Choose Right Authentication: From ...">
            <a:extLst>
              <a:ext uri="{FF2B5EF4-FFF2-40B4-BE49-F238E27FC236}">
                <a16:creationId xmlns:a16="http://schemas.microsoft.com/office/drawing/2014/main" id="{B6CC2724-4C1C-1C34-B772-14618D6BE1E0}"/>
              </a:ext>
            </a:extLst>
          </p:cNvPr>
          <p:cNvPicPr>
            <a:picLocks noGrp="1" noChangeAspect="1"/>
          </p:cNvPicPr>
          <p:nvPr>
            <p:ph idx="1"/>
          </p:nvPr>
        </p:nvPicPr>
        <p:blipFill>
          <a:blip r:embed="rId3"/>
          <a:stretch>
            <a:fillRect/>
          </a:stretch>
        </p:blipFill>
        <p:spPr>
          <a:xfrm>
            <a:off x="1847216" y="1042463"/>
            <a:ext cx="8497568" cy="5665045"/>
          </a:xfrm>
          <a:prstGeom prst="rect">
            <a:avLst/>
          </a:prstGeom>
        </p:spPr>
      </p:pic>
    </p:spTree>
    <p:extLst>
      <p:ext uri="{BB962C8B-B14F-4D97-AF65-F5344CB8AC3E}">
        <p14:creationId xmlns:p14="http://schemas.microsoft.com/office/powerpoint/2010/main" val="3140410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EABF-D295-BDCC-9EFB-883A8886466A}"/>
              </a:ext>
            </a:extLst>
          </p:cNvPr>
          <p:cNvSpPr>
            <a:spLocks noGrp="1"/>
          </p:cNvSpPr>
          <p:nvPr>
            <p:ph type="title"/>
          </p:nvPr>
        </p:nvSpPr>
        <p:spPr/>
        <p:txBody>
          <a:bodyPr/>
          <a:lstStyle/>
          <a:p>
            <a:r>
              <a:rPr lang="en-US" dirty="0"/>
              <a:t>In General…</a:t>
            </a:r>
          </a:p>
        </p:txBody>
      </p:sp>
      <p:sp>
        <p:nvSpPr>
          <p:cNvPr id="3" name="Content Placeholder 2">
            <a:extLst>
              <a:ext uri="{FF2B5EF4-FFF2-40B4-BE49-F238E27FC236}">
                <a16:creationId xmlns:a16="http://schemas.microsoft.com/office/drawing/2014/main" id="{A662615F-5293-3382-FE23-D26BD80FDC63}"/>
              </a:ext>
            </a:extLst>
          </p:cNvPr>
          <p:cNvSpPr>
            <a:spLocks noGrp="1"/>
          </p:cNvSpPr>
          <p:nvPr>
            <p:ph idx="1"/>
          </p:nvPr>
        </p:nvSpPr>
        <p:spPr/>
        <p:txBody>
          <a:bodyPr/>
          <a:lstStyle/>
          <a:p>
            <a:r>
              <a:rPr lang="en-US" dirty="0"/>
              <a:t>How long does the token live?</a:t>
            </a:r>
          </a:p>
          <a:p>
            <a:r>
              <a:rPr lang="en-US" dirty="0"/>
              <a:t>Who generates the token?</a:t>
            </a:r>
          </a:p>
          <a:p>
            <a:r>
              <a:rPr lang="en-US" dirty="0"/>
              <a:t>Who maintains (revokes) the token?</a:t>
            </a:r>
          </a:p>
          <a:p>
            <a:r>
              <a:rPr lang="en-US" dirty="0"/>
              <a:t>What resource is the token for?</a:t>
            </a:r>
          </a:p>
          <a:p>
            <a:r>
              <a:rPr lang="en-US" dirty="0"/>
              <a:t>Is the token stateless or stateful?</a:t>
            </a:r>
          </a:p>
        </p:txBody>
      </p:sp>
      <p:sp>
        <p:nvSpPr>
          <p:cNvPr id="4" name="Date Placeholder 3">
            <a:extLst>
              <a:ext uri="{FF2B5EF4-FFF2-40B4-BE49-F238E27FC236}">
                <a16:creationId xmlns:a16="http://schemas.microsoft.com/office/drawing/2014/main" id="{EC2B2493-A509-7F39-10EE-1F98483E5DE9}"/>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7AAEBBA9-84CB-B70E-1672-870FF72A108D}"/>
              </a:ext>
            </a:extLst>
          </p:cNvPr>
          <p:cNvSpPr>
            <a:spLocks noGrp="1"/>
          </p:cNvSpPr>
          <p:nvPr>
            <p:ph type="sldNum" sz="quarter" idx="11"/>
          </p:nvPr>
        </p:nvSpPr>
        <p:spPr/>
        <p:txBody>
          <a:bodyPr/>
          <a:lstStyle/>
          <a:p>
            <a:fld id="{64E5BE4B-2FBF-4174-9E62-85FAD1CB43A6}" type="slidenum">
              <a:rPr lang="en-US" smtClean="0"/>
              <a:pPr/>
              <a:t>25</a:t>
            </a:fld>
            <a:endParaRPr lang="en-US"/>
          </a:p>
        </p:txBody>
      </p:sp>
      <p:pic>
        <p:nvPicPr>
          <p:cNvPr id="6" name="Content Placeholder 5" descr="Beginner’s Guide to FastAPI &amp; OpenAI ChatGPT API Integration | by ...">
            <a:extLst>
              <a:ext uri="{FF2B5EF4-FFF2-40B4-BE49-F238E27FC236}">
                <a16:creationId xmlns:a16="http://schemas.microsoft.com/office/drawing/2014/main" id="{9803990C-3BA7-D8C5-74DD-F46522B36FB8}"/>
              </a:ext>
            </a:extLst>
          </p:cNvPr>
          <p:cNvPicPr>
            <a:picLocks noChangeAspect="1"/>
          </p:cNvPicPr>
          <p:nvPr/>
        </p:nvPicPr>
        <p:blipFill>
          <a:blip r:embed="rId3"/>
          <a:stretch>
            <a:fillRect/>
          </a:stretch>
        </p:blipFill>
        <p:spPr>
          <a:xfrm>
            <a:off x="6897756" y="122742"/>
            <a:ext cx="5086550" cy="6612515"/>
          </a:xfrm>
          <a:prstGeom prst="rect">
            <a:avLst/>
          </a:prstGeom>
        </p:spPr>
      </p:pic>
    </p:spTree>
    <p:extLst>
      <p:ext uri="{BB962C8B-B14F-4D97-AF65-F5344CB8AC3E}">
        <p14:creationId xmlns:p14="http://schemas.microsoft.com/office/powerpoint/2010/main" val="35536197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84A7-2742-3603-EF96-6ACA2AA577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369682-AF26-693A-D06B-56E66281B0ED}"/>
              </a:ext>
            </a:extLst>
          </p:cNvPr>
          <p:cNvSpPr>
            <a:spLocks noGrp="1"/>
          </p:cNvSpPr>
          <p:nvPr>
            <p:ph type="title"/>
          </p:nvPr>
        </p:nvSpPr>
        <p:spPr/>
        <p:txBody>
          <a:bodyPr/>
          <a:lstStyle/>
          <a:p>
            <a:r>
              <a:rPr lang="en-US" dirty="0"/>
              <a:t>Hands-On #2</a:t>
            </a:r>
          </a:p>
        </p:txBody>
      </p:sp>
      <p:sp>
        <p:nvSpPr>
          <p:cNvPr id="7" name="Text Placeholder 6">
            <a:extLst>
              <a:ext uri="{FF2B5EF4-FFF2-40B4-BE49-F238E27FC236}">
                <a16:creationId xmlns:a16="http://schemas.microsoft.com/office/drawing/2014/main" id="{058BFFDB-ED2B-DE78-8D46-A4B7CCA291F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BA612D-E650-2CDF-0E0D-68B80A16091B}"/>
              </a:ext>
            </a:extLst>
          </p:cNvPr>
          <p:cNvSpPr>
            <a:spLocks noGrp="1"/>
          </p:cNvSpPr>
          <p:nvPr>
            <p:ph type="dt" sz="half" idx="10"/>
          </p:nvPr>
        </p:nvSpPr>
        <p:spPr/>
        <p:txBody>
          <a:bodyPr/>
          <a:lstStyle/>
          <a:p>
            <a:fld id="{AD622D1A-DF83-41A8-85FF-04D90BF831D3}" type="datetime3">
              <a:rPr lang="en-US" smtClean="0"/>
              <a:t>3 August 2026</a:t>
            </a:fld>
            <a:endParaRPr lang="en-US"/>
          </a:p>
        </p:txBody>
      </p:sp>
      <p:sp>
        <p:nvSpPr>
          <p:cNvPr id="5" name="Slide Number Placeholder 4">
            <a:extLst>
              <a:ext uri="{FF2B5EF4-FFF2-40B4-BE49-F238E27FC236}">
                <a16:creationId xmlns:a16="http://schemas.microsoft.com/office/drawing/2014/main" id="{31B5D87B-1F0B-4A03-F65E-DE12B209DB7E}"/>
              </a:ext>
            </a:extLst>
          </p:cNvPr>
          <p:cNvSpPr>
            <a:spLocks noGrp="1"/>
          </p:cNvSpPr>
          <p:nvPr>
            <p:ph type="sldNum" sz="quarter" idx="12"/>
          </p:nvPr>
        </p:nvSpPr>
        <p:spPr/>
        <p:txBody>
          <a:bodyPr/>
          <a:lstStyle/>
          <a:p>
            <a:fld id="{64E5BE4B-2FBF-4174-9E62-85FAD1CB43A6}" type="slidenum">
              <a:rPr lang="en-US" smtClean="0"/>
              <a:pPr/>
              <a:t>26</a:t>
            </a:fld>
            <a:endParaRPr lang="en-US"/>
          </a:p>
        </p:txBody>
      </p:sp>
    </p:spTree>
    <p:extLst>
      <p:ext uri="{BB962C8B-B14F-4D97-AF65-F5344CB8AC3E}">
        <p14:creationId xmlns:p14="http://schemas.microsoft.com/office/powerpoint/2010/main" val="42759239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401</TotalTime>
  <Words>1330</Words>
  <Application>Microsoft Office PowerPoint</Application>
  <PresentationFormat>Widescreen</PresentationFormat>
  <Paragraphs>283</Paragraphs>
  <Slides>27</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Aptos</vt:lpstr>
      <vt:lpstr>Arial</vt:lpstr>
      <vt:lpstr>Arial Bold</vt:lpstr>
      <vt:lpstr>Courier New</vt:lpstr>
      <vt:lpstr>Play</vt:lpstr>
      <vt:lpstr>Wingdings</vt:lpstr>
      <vt:lpstr>US Army 2023 AFC DEVCOM Logo</vt:lpstr>
      <vt:lpstr>HTTP and APIs</vt:lpstr>
      <vt:lpstr> Course Schedule</vt:lpstr>
      <vt:lpstr>Lesson Objectives</vt:lpstr>
      <vt:lpstr>HyperText Transfer Protocol (HTTP)</vt:lpstr>
      <vt:lpstr>The HTTP Protocol: Rules</vt:lpstr>
      <vt:lpstr>Examples</vt:lpstr>
      <vt:lpstr>Methods and Codes</vt:lpstr>
      <vt:lpstr>HTTP Tools</vt:lpstr>
      <vt:lpstr>In python</vt:lpstr>
      <vt:lpstr>More Than Text</vt:lpstr>
      <vt:lpstr>Encoding Text</vt:lpstr>
      <vt:lpstr>Base64 Encoding</vt:lpstr>
      <vt:lpstr>Python Base64</vt:lpstr>
      <vt:lpstr>Hands-On #1</vt:lpstr>
      <vt:lpstr>APPLICATION PROGRAMMING INTERFACE (API)</vt:lpstr>
      <vt:lpstr>APPLICATION PROGRAMMING INTERFACE (API)</vt:lpstr>
      <vt:lpstr>API Terms</vt:lpstr>
      <vt:lpstr>Reading API Docs</vt:lpstr>
      <vt:lpstr>Reading API Docs</vt:lpstr>
      <vt:lpstr>Authentication</vt:lpstr>
      <vt:lpstr>Basic Authentication</vt:lpstr>
      <vt:lpstr>Key/Token Authentication</vt:lpstr>
      <vt:lpstr>Session Cookies</vt:lpstr>
      <vt:lpstr>OAUTH</vt:lpstr>
      <vt:lpstr>In General…</vt:lpstr>
      <vt:lpstr>Hands-On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250</cp:revision>
  <dcterms:created xsi:type="dcterms:W3CDTF">2025-09-17T14:29:17Z</dcterms:created>
  <dcterms:modified xsi:type="dcterms:W3CDTF">2026-08-03T13:28:33Z</dcterms:modified>
</cp:coreProperties>
</file>